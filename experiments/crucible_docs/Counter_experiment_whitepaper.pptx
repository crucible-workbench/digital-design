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7562850" cy="10696575"/>
  <p:notesSz cx="10696575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445" y="-28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3604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850" cy="10696575"/>
          </a:xfrm>
          <a:prstGeom prst="rect">
            <a:avLst/>
          </a:prstGeom>
          <a:ln/>
          <a:effectLst>
            <a:outerShdw blurRad="2667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7562850" cy="38100"/>
          </a:xfrm>
          <a:prstGeom prst="rect">
            <a:avLst/>
          </a:prstGeom>
          <a:solidFill>
            <a:srgbClr val="EF9529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609600"/>
            <a:ext cx="243025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13" kern="0" spc="157" dirty="0">
                <a:solidFill>
                  <a:srgbClr val="7777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IGNYTION IO · TECHNICAL LAB NOTE</a:t>
            </a:r>
            <a:endParaRPr lang="en-US" sz="713" dirty="0"/>
          </a:p>
        </p:txBody>
      </p:sp>
      <p:sp>
        <p:nvSpPr>
          <p:cNvPr id="5" name="Text 3"/>
          <p:cNvSpPr/>
          <p:nvPr/>
        </p:nvSpPr>
        <p:spPr>
          <a:xfrm>
            <a:off x="4404479" y="10454640"/>
            <a:ext cx="271982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13" kern="0" spc="157" dirty="0">
                <a:solidFill>
                  <a:srgbClr val="7777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CRUCIBLE PLATFORM SERIES · JUNE 2026</a:t>
            </a:r>
            <a:endParaRPr lang="en-US" sz="713" dirty="0"/>
          </a:p>
        </p:txBody>
      </p:sp>
      <p:sp>
        <p:nvSpPr>
          <p:cNvPr id="6" name="Text 4"/>
          <p:cNvSpPr/>
          <p:nvPr/>
        </p:nvSpPr>
        <p:spPr>
          <a:xfrm>
            <a:off x="685800" y="1638300"/>
            <a:ext cx="6376988" cy="1002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450" kern="0" spc="-86" dirty="0">
                <a:solidFill>
                  <a:srgbClr val="1111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ASIC Design &amp; Verification on a Reproducible Workbench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685800" y="2811780"/>
            <a:ext cx="6376988" cy="507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dirty="0">
                <a:solidFill>
                  <a:srgbClr val="EF952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RTL Simulation and Logic Synthesis, End-to-End on Crucible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685800" y="3776662"/>
            <a:ext cx="5199698" cy="751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85000"/>
              </a:lnSpc>
              <a:buNone/>
            </a:pPr>
            <a:r>
              <a:rPr 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Simulate a 4-bit counter, view its waveform, and synthesize an RTL design into a standard-cell gate-level netlist — every step driven by the Crucible CLI ( </a:t>
            </a:r>
            <a:r>
              <a:rPr lang="en-US" sz="9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5F5F5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igny </a:t>
            </a:r>
            <a:r>
              <a:rPr 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), in one reproducible workspace, with no manual tool installation.</a:t>
            </a:r>
            <a:endParaRPr lang="en-US" sz="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685800" y="5099923"/>
            <a:ext cx="6191250" cy="1213485"/>
          </a:xfrm>
          <a:prstGeom prst="rect">
            <a:avLst/>
          </a:prstGeom>
          <a:ln w="762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3420" y="5107543"/>
            <a:ext cx="6176010" cy="32385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1" name="Text 9"/>
          <p:cNvSpPr/>
          <p:nvPr/>
        </p:nvSpPr>
        <p:spPr>
          <a:xfrm>
            <a:off x="864870" y="5212318"/>
            <a:ext cx="5334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13" kern="0" spc="128" dirty="0">
                <a:solidFill>
                  <a:srgbClr val="A1A1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</a:t>
            </a:r>
            <a:endParaRPr lang="en-US" sz="713" dirty="0"/>
          </a:p>
        </p:txBody>
      </p:sp>
      <p:sp>
        <p:nvSpPr>
          <p:cNvPr id="12" name="Text 10"/>
          <p:cNvSpPr/>
          <p:nvPr/>
        </p:nvSpPr>
        <p:spPr>
          <a:xfrm>
            <a:off x="1474470" y="5212318"/>
            <a:ext cx="253974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13" kern="0" spc="128" dirty="0">
                <a:solidFill>
                  <a:srgbClr val="A1A1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EXPERIMENT</a:t>
            </a:r>
            <a:endParaRPr lang="en-US" sz="713" dirty="0"/>
          </a:p>
        </p:txBody>
      </p:sp>
      <p:sp>
        <p:nvSpPr>
          <p:cNvPr id="13" name="Text 11"/>
          <p:cNvSpPr/>
          <p:nvPr/>
        </p:nvSpPr>
        <p:spPr>
          <a:xfrm>
            <a:off x="3935730" y="5212318"/>
            <a:ext cx="194881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13" kern="0" spc="128" dirty="0">
                <a:solidFill>
                  <a:srgbClr val="A1A1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TOOLS (VIA igny)</a:t>
            </a:r>
            <a:endParaRPr lang="en-US" sz="713" dirty="0"/>
          </a:p>
        </p:txBody>
      </p:sp>
      <p:sp>
        <p:nvSpPr>
          <p:cNvPr id="14" name="Text 12"/>
          <p:cNvSpPr/>
          <p:nvPr/>
        </p:nvSpPr>
        <p:spPr>
          <a:xfrm>
            <a:off x="5859780" y="5212318"/>
            <a:ext cx="9144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13" kern="0" spc="128" dirty="0">
                <a:solidFill>
                  <a:srgbClr val="A1A1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RESULT</a:t>
            </a:r>
            <a:endParaRPr lang="en-US" sz="713" dirty="0"/>
          </a:p>
        </p:txBody>
      </p:sp>
      <p:sp>
        <p:nvSpPr>
          <p:cNvPr id="15" name="Shape 13"/>
          <p:cNvSpPr/>
          <p:nvPr/>
        </p:nvSpPr>
        <p:spPr>
          <a:xfrm>
            <a:off x="693420" y="5864781"/>
            <a:ext cx="6176010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16" name="Text 14"/>
          <p:cNvSpPr/>
          <p:nvPr/>
        </p:nvSpPr>
        <p:spPr>
          <a:xfrm>
            <a:off x="864870" y="5568077"/>
            <a:ext cx="5334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7777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1474470" y="5555218"/>
            <a:ext cx="253974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RTL simulation + waveform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3935730" y="5560457"/>
            <a:ext cx="1948815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863" dirty="0">
                <a:solidFill>
                  <a:srgbClr val="4444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iverilog, vvp, gtkwave</a:t>
            </a:r>
            <a:endParaRPr lang="en-US" sz="863" dirty="0"/>
          </a:p>
        </p:txBody>
      </p:sp>
      <p:sp>
        <p:nvSpPr>
          <p:cNvPr id="19" name="Text 17"/>
          <p:cNvSpPr/>
          <p:nvPr/>
        </p:nvSpPr>
        <p:spPr>
          <a:xfrm>
            <a:off x="5859780" y="5571887"/>
            <a:ext cx="9144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F952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 PASS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64870" y="6009084"/>
            <a:ext cx="5334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7777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1474470" y="5996226"/>
            <a:ext cx="253974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Logic synthesis → gate netlist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3935730" y="6001464"/>
            <a:ext cx="1948815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863" dirty="0">
                <a:solidFill>
                  <a:srgbClr val="4444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yosys + Nangate .lib</a:t>
            </a:r>
            <a:endParaRPr lang="en-US" sz="863" dirty="0"/>
          </a:p>
        </p:txBody>
      </p:sp>
      <p:sp>
        <p:nvSpPr>
          <p:cNvPr id="23" name="Text 21"/>
          <p:cNvSpPr/>
          <p:nvPr/>
        </p:nvSpPr>
        <p:spPr>
          <a:xfrm>
            <a:off x="5859780" y="6012895"/>
            <a:ext cx="9144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F952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 PASS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10292715"/>
            <a:ext cx="7562850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10433685"/>
            <a:ext cx="1126569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A1A1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Ignytion IO · ignytion.io</a:t>
            </a:r>
            <a:endParaRPr lang="en-US" sz="788" dirty="0"/>
          </a:p>
        </p:txBody>
      </p:sp>
      <p:pic>
        <p:nvPicPr>
          <p:cNvPr id="33" name="Image 0" descr="preencoded.png">
            <a:extLst>
              <a:ext uri="{FF2B5EF4-FFF2-40B4-BE49-F238E27FC236}">
                <a16:creationId xmlns:a16="http://schemas.microsoft.com/office/drawing/2014/main" id="{7C7A8A2B-5866-9F87-19BF-850B88D77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2176" y="377190"/>
            <a:ext cx="165625" cy="209551"/>
          </a:xfrm>
          <a:prstGeom prst="rect">
            <a:avLst/>
          </a:prstGeom>
        </p:spPr>
      </p:pic>
      <p:sp>
        <p:nvSpPr>
          <p:cNvPr id="35" name="Text 3">
            <a:extLst>
              <a:ext uri="{FF2B5EF4-FFF2-40B4-BE49-F238E27FC236}">
                <a16:creationId xmlns:a16="http://schemas.microsoft.com/office/drawing/2014/main" id="{8ACD541A-7BF6-243F-1D4E-F1AFCAF7AD4C}"/>
              </a:ext>
            </a:extLst>
          </p:cNvPr>
          <p:cNvSpPr/>
          <p:nvPr/>
        </p:nvSpPr>
        <p:spPr>
          <a:xfrm>
            <a:off x="6316980" y="430528"/>
            <a:ext cx="594598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C1A17"/>
                </a:solidFill>
                <a:latin typeface="Aptos Display" panose="020B0004020202020204" pitchFamily="34" charset="0"/>
                <a:ea typeface="IBM Plex Sans" pitchFamily="34" charset="-122"/>
                <a:cs typeface="IBM Plex Sans" pitchFamily="34" charset="-120"/>
              </a:rPr>
              <a:t>Ignytion </a:t>
            </a:r>
            <a:r>
              <a:rPr lang="en-US" sz="825" b="1" dirty="0">
                <a:solidFill>
                  <a:srgbClr val="F7941D"/>
                </a:solidFill>
                <a:latin typeface="Aptos Display" panose="020B0004020202020204" pitchFamily="34" charset="0"/>
                <a:ea typeface="IBM Plex Sans" pitchFamily="34" charset="-122"/>
                <a:cs typeface="IBM Plex Sans" pitchFamily="34" charset="-120"/>
              </a:rPr>
              <a:t>io</a:t>
            </a:r>
            <a:endParaRPr lang="en-US" sz="825" dirty="0">
              <a:latin typeface="Aptos Display" panose="020B00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7D0EB1-B76F-0947-39D8-5ADD812AF430}"/>
              </a:ext>
            </a:extLst>
          </p:cNvPr>
          <p:cNvSpPr txBox="1"/>
          <p:nvPr/>
        </p:nvSpPr>
        <p:spPr>
          <a:xfrm>
            <a:off x="693420" y="6399133"/>
            <a:ext cx="62181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Two experiments, both passing, both run entirely through </a:t>
            </a:r>
            <a:r>
              <a:rPr lang="en-US" sz="11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igny</a:t>
            </a: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850" cy="10696575"/>
          </a:xfrm>
          <a:prstGeom prst="rect">
            <a:avLst/>
          </a:prstGeom>
          <a:ln/>
          <a:effectLst>
            <a:outerShdw blurRad="2667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392430"/>
            <a:ext cx="7562850" cy="15240"/>
          </a:xfrm>
          <a:prstGeom prst="rect">
            <a:avLst/>
          </a:prstGeom>
          <a:solidFill>
            <a:srgbClr val="EF9529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42875"/>
            <a:ext cx="3275267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38" kern="0" spc="159" dirty="0">
                <a:solidFill>
                  <a:srgbClr val="A1A1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ASIC DESIGN &amp; VERIFICATION · TECHNICAL LAB NOTE</a:t>
            </a:r>
            <a:endParaRPr lang="en-US" sz="638" dirty="0"/>
          </a:p>
        </p:txBody>
      </p:sp>
      <p:sp>
        <p:nvSpPr>
          <p:cNvPr id="6" name="Text 4"/>
          <p:cNvSpPr/>
          <p:nvPr/>
        </p:nvSpPr>
        <p:spPr>
          <a:xfrm>
            <a:off x="685800" y="956310"/>
            <a:ext cx="278892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75" kern="0" spc="236" dirty="0">
                <a:solidFill>
                  <a:srgbClr val="EF952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 A B L E   O F   C O N T E N T S</a:t>
            </a:r>
            <a:endParaRPr lang="en-US" sz="675" dirty="0"/>
          </a:p>
        </p:txBody>
      </p:sp>
      <p:sp>
        <p:nvSpPr>
          <p:cNvPr id="7" name="Shape 5"/>
          <p:cNvSpPr/>
          <p:nvPr/>
        </p:nvSpPr>
        <p:spPr>
          <a:xfrm>
            <a:off x="685800" y="1977390"/>
            <a:ext cx="6191250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87831"/>
            <a:ext cx="30480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F952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</a:t>
            </a:r>
            <a:endParaRPr lang="en-US" sz="788" dirty="0"/>
          </a:p>
        </p:txBody>
      </p:sp>
      <p:sp>
        <p:nvSpPr>
          <p:cNvPr id="9" name="Text 7"/>
          <p:cNvSpPr/>
          <p:nvPr/>
        </p:nvSpPr>
        <p:spPr>
          <a:xfrm>
            <a:off x="1143000" y="1642110"/>
            <a:ext cx="6241447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111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Executive Summary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6817042" y="1687831"/>
            <a:ext cx="13620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A1A1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788" dirty="0"/>
          </a:p>
        </p:txBody>
      </p:sp>
      <p:sp>
        <p:nvSpPr>
          <p:cNvPr id="11" name="Shape 9"/>
          <p:cNvSpPr/>
          <p:nvPr/>
        </p:nvSpPr>
        <p:spPr>
          <a:xfrm>
            <a:off x="685800" y="2472690"/>
            <a:ext cx="6191250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183131"/>
            <a:ext cx="30480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F952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788" dirty="0"/>
          </a:p>
        </p:txBody>
      </p:sp>
      <p:sp>
        <p:nvSpPr>
          <p:cNvPr id="13" name="Text 11"/>
          <p:cNvSpPr/>
          <p:nvPr/>
        </p:nvSpPr>
        <p:spPr>
          <a:xfrm>
            <a:off x="1143000" y="2137410"/>
            <a:ext cx="6241447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111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Reference Design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6817042" y="2183131"/>
            <a:ext cx="13620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A1A1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788" dirty="0"/>
          </a:p>
        </p:txBody>
      </p:sp>
      <p:sp>
        <p:nvSpPr>
          <p:cNvPr id="15" name="Shape 13"/>
          <p:cNvSpPr/>
          <p:nvPr/>
        </p:nvSpPr>
        <p:spPr>
          <a:xfrm>
            <a:off x="685800" y="2967990"/>
            <a:ext cx="6191250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678431"/>
            <a:ext cx="30480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F952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788" dirty="0"/>
          </a:p>
        </p:txBody>
      </p:sp>
      <p:sp>
        <p:nvSpPr>
          <p:cNvPr id="17" name="Text 15"/>
          <p:cNvSpPr/>
          <p:nvPr/>
        </p:nvSpPr>
        <p:spPr>
          <a:xfrm>
            <a:off x="1143000" y="2632710"/>
            <a:ext cx="6241447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111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Crucible Workspace Setup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6817042" y="2678431"/>
            <a:ext cx="13620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A1A1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788" dirty="0"/>
          </a:p>
        </p:txBody>
      </p:sp>
      <p:sp>
        <p:nvSpPr>
          <p:cNvPr id="19" name="Shape 17"/>
          <p:cNvSpPr/>
          <p:nvPr/>
        </p:nvSpPr>
        <p:spPr>
          <a:xfrm>
            <a:off x="685800" y="3463290"/>
            <a:ext cx="6191250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173731"/>
            <a:ext cx="30480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F952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788" dirty="0"/>
          </a:p>
        </p:txBody>
      </p:sp>
      <p:sp>
        <p:nvSpPr>
          <p:cNvPr id="21" name="Text 19"/>
          <p:cNvSpPr/>
          <p:nvPr/>
        </p:nvSpPr>
        <p:spPr>
          <a:xfrm>
            <a:off x="1143000" y="3128010"/>
            <a:ext cx="6241447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111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Experiment 1 — RTL Simulation and Waveform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6817042" y="3173731"/>
            <a:ext cx="13620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A1A1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788" dirty="0"/>
          </a:p>
        </p:txBody>
      </p:sp>
      <p:sp>
        <p:nvSpPr>
          <p:cNvPr id="23" name="Shape 21"/>
          <p:cNvSpPr/>
          <p:nvPr/>
        </p:nvSpPr>
        <p:spPr>
          <a:xfrm>
            <a:off x="685800" y="3958590"/>
            <a:ext cx="6191250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669031"/>
            <a:ext cx="30480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F952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</a:t>
            </a:r>
            <a:endParaRPr lang="en-US" sz="788" dirty="0"/>
          </a:p>
        </p:txBody>
      </p:sp>
      <p:sp>
        <p:nvSpPr>
          <p:cNvPr id="25" name="Text 23"/>
          <p:cNvSpPr/>
          <p:nvPr/>
        </p:nvSpPr>
        <p:spPr>
          <a:xfrm>
            <a:off x="1143000" y="3623310"/>
            <a:ext cx="6241447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111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Experiment 2 — Logic Synthesis into a Gate-Level Netlist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6817042" y="3669031"/>
            <a:ext cx="13620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A1A1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  <a:endParaRPr lang="en-US" sz="788" dirty="0"/>
          </a:p>
        </p:txBody>
      </p:sp>
      <p:sp>
        <p:nvSpPr>
          <p:cNvPr id="27" name="Text 25"/>
          <p:cNvSpPr/>
          <p:nvPr/>
        </p:nvSpPr>
        <p:spPr>
          <a:xfrm>
            <a:off x="685800" y="4164331"/>
            <a:ext cx="30480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F952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</a:t>
            </a:r>
            <a:endParaRPr lang="en-US" sz="788" dirty="0"/>
          </a:p>
        </p:txBody>
      </p:sp>
      <p:sp>
        <p:nvSpPr>
          <p:cNvPr id="28" name="Text 26"/>
          <p:cNvSpPr/>
          <p:nvPr/>
        </p:nvSpPr>
        <p:spPr>
          <a:xfrm>
            <a:off x="1143000" y="4118610"/>
            <a:ext cx="6241447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1111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Conclusion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6817042" y="4164331"/>
            <a:ext cx="13620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A1A1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endParaRPr lang="en-US" sz="788" dirty="0"/>
          </a:p>
        </p:txBody>
      </p:sp>
      <p:sp>
        <p:nvSpPr>
          <p:cNvPr id="30" name="Shape 28"/>
          <p:cNvSpPr/>
          <p:nvPr/>
        </p:nvSpPr>
        <p:spPr>
          <a:xfrm>
            <a:off x="0" y="10292716"/>
            <a:ext cx="7562850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10433686"/>
            <a:ext cx="1556564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A1A1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© 2026 Ignytion IO · ignytion.io</a:t>
            </a:r>
            <a:endParaRPr lang="en-US" sz="788" dirty="0"/>
          </a:p>
        </p:txBody>
      </p:sp>
      <p:sp>
        <p:nvSpPr>
          <p:cNvPr id="32" name="Text 30"/>
          <p:cNvSpPr/>
          <p:nvPr/>
        </p:nvSpPr>
        <p:spPr>
          <a:xfrm>
            <a:off x="3791426" y="10433686"/>
            <a:ext cx="114573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A1A1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June 2026 · Version 1.0</a:t>
            </a:r>
            <a:endParaRPr lang="en-US" sz="788" dirty="0"/>
          </a:p>
        </p:txBody>
      </p:sp>
      <p:sp>
        <p:nvSpPr>
          <p:cNvPr id="33" name="Text 31"/>
          <p:cNvSpPr/>
          <p:nvPr/>
        </p:nvSpPr>
        <p:spPr>
          <a:xfrm>
            <a:off x="6551533" y="10433686"/>
            <a:ext cx="40171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A1A1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 / 09</a:t>
            </a:r>
            <a:endParaRPr lang="en-US" sz="788" dirty="0"/>
          </a:p>
        </p:txBody>
      </p:sp>
      <p:pic>
        <p:nvPicPr>
          <p:cNvPr id="39" name="Image 0" descr="preencoded.png">
            <a:extLst>
              <a:ext uri="{FF2B5EF4-FFF2-40B4-BE49-F238E27FC236}">
                <a16:creationId xmlns:a16="http://schemas.microsoft.com/office/drawing/2014/main" id="{102A999A-3DA6-82D5-5061-C37BEADD9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2176" y="77470"/>
            <a:ext cx="165625" cy="209551"/>
          </a:xfrm>
          <a:prstGeom prst="rect">
            <a:avLst/>
          </a:prstGeom>
        </p:spPr>
      </p:pic>
      <p:sp>
        <p:nvSpPr>
          <p:cNvPr id="41" name="Text 3">
            <a:extLst>
              <a:ext uri="{FF2B5EF4-FFF2-40B4-BE49-F238E27FC236}">
                <a16:creationId xmlns:a16="http://schemas.microsoft.com/office/drawing/2014/main" id="{4E104676-CC9A-E9DF-F724-EE81C4F1E0AC}"/>
              </a:ext>
            </a:extLst>
          </p:cNvPr>
          <p:cNvSpPr/>
          <p:nvPr/>
        </p:nvSpPr>
        <p:spPr>
          <a:xfrm>
            <a:off x="6316980" y="130808"/>
            <a:ext cx="594598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C1A17"/>
                </a:solidFill>
                <a:latin typeface="Aptos Display" panose="020B0004020202020204" pitchFamily="34" charset="0"/>
                <a:ea typeface="IBM Plex Sans" pitchFamily="34" charset="-122"/>
                <a:cs typeface="IBM Plex Sans" pitchFamily="34" charset="-120"/>
              </a:rPr>
              <a:t>Ignytion </a:t>
            </a:r>
            <a:r>
              <a:rPr lang="en-US" sz="825" b="1" dirty="0">
                <a:solidFill>
                  <a:srgbClr val="F7941D"/>
                </a:solidFill>
                <a:latin typeface="Aptos Display" panose="020B0004020202020204" pitchFamily="34" charset="0"/>
                <a:ea typeface="IBM Plex Sans" pitchFamily="34" charset="-122"/>
                <a:cs typeface="IBM Plex Sans" pitchFamily="34" charset="-120"/>
              </a:rPr>
              <a:t>io</a:t>
            </a:r>
            <a:endParaRPr lang="en-US" sz="825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850" cy="10696575"/>
          </a:xfrm>
          <a:prstGeom prst="rect">
            <a:avLst/>
          </a:prstGeom>
          <a:ln/>
          <a:effectLst>
            <a:outerShdw blurRad="2667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392430"/>
            <a:ext cx="7562850" cy="15240"/>
          </a:xfrm>
          <a:prstGeom prst="rect">
            <a:avLst/>
          </a:prstGeom>
          <a:solidFill>
            <a:srgbClr val="EF9529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42875"/>
            <a:ext cx="3275267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38" kern="0" spc="159" dirty="0">
                <a:solidFill>
                  <a:srgbClr val="A1A1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ASIC DESIGN &amp; VERIFICATION · TECHNICAL LAB NOTE</a:t>
            </a:r>
            <a:endParaRPr lang="en-US" sz="638" dirty="0"/>
          </a:p>
        </p:txBody>
      </p:sp>
      <p:sp>
        <p:nvSpPr>
          <p:cNvPr id="6" name="Text 4"/>
          <p:cNvSpPr/>
          <p:nvPr/>
        </p:nvSpPr>
        <p:spPr>
          <a:xfrm>
            <a:off x="685800" y="933450"/>
            <a:ext cx="231893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75" kern="0" spc="236" dirty="0">
                <a:solidFill>
                  <a:srgbClr val="EF952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 X E C U T I V E   S U M M A R Y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685800" y="1146811"/>
            <a:ext cx="681037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50" kern="0" spc="-19" dirty="0">
                <a:solidFill>
                  <a:srgbClr val="1111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Executive Summary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685800" y="1710691"/>
            <a:ext cx="6376988" cy="751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85000"/>
              </a:lnSpc>
              <a:buNone/>
            </a:pPr>
            <a:r>
              <a:rPr lang="en-US" sz="1013" dirty="0">
                <a:solidFill>
                  <a:srgbClr val="4444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Hardware verification and synthesis normally depend on a hand-assembled toolchain — a simulator, a waveform viewer, a synthesis engine, and a standard-cell library — each installed and version-matched by hand. That setup is fragile and rarely reproduces across machines.</a:t>
            </a:r>
            <a:endParaRPr lang="en-US" sz="1013" dirty="0"/>
          </a:p>
        </p:txBody>
      </p:sp>
      <p:sp>
        <p:nvSpPr>
          <p:cNvPr id="9" name="Text 7"/>
          <p:cNvSpPr/>
          <p:nvPr/>
        </p:nvSpPr>
        <p:spPr>
          <a:xfrm>
            <a:off x="685800" y="2595802"/>
            <a:ext cx="6376988" cy="12275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5000"/>
              </a:lnSpc>
              <a:buNone/>
            </a:pPr>
            <a:r>
              <a:rPr lang="en-US" sz="1013" dirty="0">
                <a:solidFill>
                  <a:srgbClr val="4444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This lab note demonstrates the same flow run on a managed workbench. Using Crucible (</a:t>
            </a:r>
            <a:r>
              <a:rPr lang="en-US" sz="900" dirty="0">
                <a:solidFill>
                  <a:srgbClr val="444444"/>
                </a:solidFill>
                <a:highlight>
                  <a:srgbClr val="F5F5F5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igny </a:t>
            </a:r>
            <a:r>
              <a:rPr lang="en-US" sz="1013" dirty="0">
                <a:solidFill>
                  <a:srgbClr val="4444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), we stand up an isolated environment, install three catalogued open-source tools, and run a complete Counter ASIC flow: </a:t>
            </a:r>
            <a:r>
              <a:rPr lang="en-US" sz="1013" dirty="0">
                <a:solidFill>
                  <a:srgbClr val="1111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simulate </a:t>
            </a:r>
            <a:r>
              <a:rPr lang="en-US" sz="1013" dirty="0">
                <a:solidFill>
                  <a:srgbClr val="4444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4-bit counter against its testbench, </a:t>
            </a:r>
            <a:r>
              <a:rPr lang="en-US" sz="1013" dirty="0">
                <a:solidFill>
                  <a:srgbClr val="1111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view </a:t>
            </a:r>
            <a:r>
              <a:rPr lang="en-US" sz="1013" dirty="0">
                <a:solidFill>
                  <a:srgbClr val="4444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resulting waveform, and </a:t>
            </a:r>
            <a:r>
              <a:rPr lang="en-US" sz="1013" dirty="0">
                <a:solidFill>
                  <a:srgbClr val="1111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synthesize </a:t>
            </a:r>
            <a:r>
              <a:rPr lang="en-US" sz="1013" dirty="0">
                <a:solidFill>
                  <a:srgbClr val="4444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RTL design into a </a:t>
            </a:r>
            <a:r>
              <a:rPr lang="en-US" sz="1013" dirty="0">
                <a:solidFill>
                  <a:srgbClr val="1111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gate-level netlist </a:t>
            </a:r>
            <a:r>
              <a:rPr lang="en-US" sz="1013" dirty="0">
                <a:solidFill>
                  <a:srgbClr val="4444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mapped to the Nangate standard-cell library — all without installing a single tool by hand.</a:t>
            </a:r>
            <a:endParaRPr lang="en-US" sz="1013" dirty="0"/>
          </a:p>
        </p:txBody>
      </p:sp>
      <p:sp>
        <p:nvSpPr>
          <p:cNvPr id="10" name="Text 8"/>
          <p:cNvSpPr/>
          <p:nvPr/>
        </p:nvSpPr>
        <p:spPr>
          <a:xfrm>
            <a:off x="685800" y="3956686"/>
            <a:ext cx="6376988" cy="275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85000"/>
              </a:lnSpc>
              <a:buNone/>
            </a:pPr>
            <a:r>
              <a:rPr lang="en-US" sz="1013" dirty="0">
                <a:solidFill>
                  <a:srgbClr val="4444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experiments, both passing, both run entirely through </a:t>
            </a:r>
            <a:r>
              <a:rPr lang="en-US" sz="900" dirty="0">
                <a:solidFill>
                  <a:srgbClr val="444444"/>
                </a:solidFill>
                <a:highlight>
                  <a:srgbClr val="F5F5F5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igny</a:t>
            </a:r>
            <a:r>
              <a:rPr lang="en-US" sz="1013" dirty="0">
                <a:solidFill>
                  <a:srgbClr val="4444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</a:t>
            </a:r>
            <a:endParaRPr lang="en-US" sz="1013" dirty="0"/>
          </a:p>
        </p:txBody>
      </p:sp>
      <p:sp>
        <p:nvSpPr>
          <p:cNvPr id="11" name="Shape 9"/>
          <p:cNvSpPr/>
          <p:nvPr/>
        </p:nvSpPr>
        <p:spPr>
          <a:xfrm>
            <a:off x="685800" y="4499372"/>
            <a:ext cx="6191250" cy="1638300"/>
          </a:xfrm>
          <a:prstGeom prst="rect">
            <a:avLst/>
          </a:prstGeom>
          <a:ln w="7620">
            <a:solidFill>
              <a:srgbClr val="DCDC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3420" y="4506992"/>
            <a:ext cx="6176010" cy="32385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3" name="Text 11"/>
          <p:cNvSpPr/>
          <p:nvPr/>
        </p:nvSpPr>
        <p:spPr>
          <a:xfrm>
            <a:off x="864870" y="4611767"/>
            <a:ext cx="4572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13" kern="0" spc="107" dirty="0">
                <a:solidFill>
                  <a:srgbClr val="A1A1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</a:t>
            </a:r>
            <a:endParaRPr lang="en-US" sz="713" dirty="0"/>
          </a:p>
        </p:txBody>
      </p:sp>
      <p:sp>
        <p:nvSpPr>
          <p:cNvPr id="14" name="Text 12"/>
          <p:cNvSpPr/>
          <p:nvPr/>
        </p:nvSpPr>
        <p:spPr>
          <a:xfrm>
            <a:off x="1398270" y="4611767"/>
            <a:ext cx="256070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13" kern="0" spc="107" dirty="0">
                <a:solidFill>
                  <a:srgbClr val="A1A1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EXPERIMENT</a:t>
            </a:r>
            <a:endParaRPr lang="en-US" sz="713" dirty="0"/>
          </a:p>
        </p:txBody>
      </p:sp>
      <p:sp>
        <p:nvSpPr>
          <p:cNvPr id="15" name="Text 13"/>
          <p:cNvSpPr/>
          <p:nvPr/>
        </p:nvSpPr>
        <p:spPr>
          <a:xfrm>
            <a:off x="3878580" y="4611767"/>
            <a:ext cx="20955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13" kern="0" spc="107" dirty="0">
                <a:solidFill>
                  <a:srgbClr val="A1A1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TOOLS (VIA igny)</a:t>
            </a:r>
            <a:endParaRPr lang="en-US" sz="713" dirty="0"/>
          </a:p>
        </p:txBody>
      </p:sp>
      <p:sp>
        <p:nvSpPr>
          <p:cNvPr id="16" name="Text 14"/>
          <p:cNvSpPr/>
          <p:nvPr/>
        </p:nvSpPr>
        <p:spPr>
          <a:xfrm>
            <a:off x="5935980" y="4611767"/>
            <a:ext cx="8382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13" kern="0" spc="107" dirty="0">
                <a:solidFill>
                  <a:srgbClr val="A1A1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RESULT</a:t>
            </a:r>
            <a:endParaRPr lang="en-US" sz="713" dirty="0"/>
          </a:p>
        </p:txBody>
      </p:sp>
      <p:sp>
        <p:nvSpPr>
          <p:cNvPr id="17" name="Shape 15"/>
          <p:cNvSpPr/>
          <p:nvPr/>
        </p:nvSpPr>
        <p:spPr>
          <a:xfrm>
            <a:off x="693420" y="4830842"/>
            <a:ext cx="6176010" cy="649605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8" name="Shape 16"/>
          <p:cNvSpPr/>
          <p:nvPr/>
        </p:nvSpPr>
        <p:spPr>
          <a:xfrm>
            <a:off x="693420" y="5472827"/>
            <a:ext cx="6176010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19" name="Text 17"/>
          <p:cNvSpPr/>
          <p:nvPr/>
        </p:nvSpPr>
        <p:spPr>
          <a:xfrm>
            <a:off x="864870" y="4954667"/>
            <a:ext cx="4572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7777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1398270" y="4954667"/>
            <a:ext cx="256070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111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RTL simulation + waveform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1398270" y="5188983"/>
            <a:ext cx="1974223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63" dirty="0">
                <a:solidFill>
                  <a:srgbClr val="7777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counter verified, count.vcd produced</a:t>
            </a:r>
            <a:endParaRPr lang="en-US" sz="863" dirty="0"/>
          </a:p>
        </p:txBody>
      </p:sp>
      <p:sp>
        <p:nvSpPr>
          <p:cNvPr id="22" name="Text 20"/>
          <p:cNvSpPr/>
          <p:nvPr/>
        </p:nvSpPr>
        <p:spPr>
          <a:xfrm>
            <a:off x="3878580" y="4954667"/>
            <a:ext cx="1981200" cy="216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825" dirty="0">
                <a:solidFill>
                  <a:srgbClr val="4444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iverilog, vvp, gtkwave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5935980" y="4954667"/>
            <a:ext cx="8382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F952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 PASS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64870" y="5604272"/>
            <a:ext cx="4572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7777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1398270" y="5604272"/>
            <a:ext cx="2560701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111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Logic synthesis → gate netlist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1398270" y="5846208"/>
            <a:ext cx="1448253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63" dirty="0">
                <a:solidFill>
                  <a:srgbClr val="7777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synth_example.v produced</a:t>
            </a:r>
            <a:endParaRPr lang="en-US" sz="863" dirty="0"/>
          </a:p>
        </p:txBody>
      </p:sp>
      <p:sp>
        <p:nvSpPr>
          <p:cNvPr id="27" name="Text 25"/>
          <p:cNvSpPr/>
          <p:nvPr/>
        </p:nvSpPr>
        <p:spPr>
          <a:xfrm>
            <a:off x="3878580" y="5604272"/>
            <a:ext cx="1981200" cy="216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825" dirty="0">
                <a:solidFill>
                  <a:srgbClr val="4444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yosys + Nangate .lib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5935980" y="5604272"/>
            <a:ext cx="8382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F952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 PASS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10292716"/>
            <a:ext cx="7562850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10433686"/>
            <a:ext cx="1556564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A1A1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© 2026 Ignytion IO · ignytion.io</a:t>
            </a:r>
            <a:endParaRPr lang="en-US" sz="788" dirty="0"/>
          </a:p>
        </p:txBody>
      </p:sp>
      <p:sp>
        <p:nvSpPr>
          <p:cNvPr id="31" name="Text 29"/>
          <p:cNvSpPr/>
          <p:nvPr/>
        </p:nvSpPr>
        <p:spPr>
          <a:xfrm>
            <a:off x="3791426" y="10433686"/>
            <a:ext cx="114573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A1A1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June 2026 · Version 1.0</a:t>
            </a:r>
            <a:endParaRPr lang="en-US" sz="788" dirty="0"/>
          </a:p>
        </p:txBody>
      </p:sp>
      <p:sp>
        <p:nvSpPr>
          <p:cNvPr id="32" name="Text 30"/>
          <p:cNvSpPr/>
          <p:nvPr/>
        </p:nvSpPr>
        <p:spPr>
          <a:xfrm>
            <a:off x="6551533" y="10433686"/>
            <a:ext cx="40171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A1A1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 / 09</a:t>
            </a:r>
            <a:endParaRPr lang="en-US" sz="788" dirty="0"/>
          </a:p>
        </p:txBody>
      </p:sp>
      <p:pic>
        <p:nvPicPr>
          <p:cNvPr id="34" name="Image 0" descr="preencoded.png">
            <a:extLst>
              <a:ext uri="{FF2B5EF4-FFF2-40B4-BE49-F238E27FC236}">
                <a16:creationId xmlns:a16="http://schemas.microsoft.com/office/drawing/2014/main" id="{F4C0D89F-445E-FD30-8357-E182DDE54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2176" y="77470"/>
            <a:ext cx="165625" cy="209551"/>
          </a:xfrm>
          <a:prstGeom prst="rect">
            <a:avLst/>
          </a:prstGeom>
        </p:spPr>
      </p:pic>
      <p:sp>
        <p:nvSpPr>
          <p:cNvPr id="36" name="Text 3">
            <a:extLst>
              <a:ext uri="{FF2B5EF4-FFF2-40B4-BE49-F238E27FC236}">
                <a16:creationId xmlns:a16="http://schemas.microsoft.com/office/drawing/2014/main" id="{69E186E2-4899-D509-3C00-A3021C147544}"/>
              </a:ext>
            </a:extLst>
          </p:cNvPr>
          <p:cNvSpPr/>
          <p:nvPr/>
        </p:nvSpPr>
        <p:spPr>
          <a:xfrm>
            <a:off x="6316980" y="130808"/>
            <a:ext cx="594598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C1A17"/>
                </a:solidFill>
                <a:latin typeface="Aptos Display" panose="020B0004020202020204" pitchFamily="34" charset="0"/>
                <a:ea typeface="IBM Plex Sans" pitchFamily="34" charset="-122"/>
                <a:cs typeface="IBM Plex Sans" pitchFamily="34" charset="-120"/>
              </a:rPr>
              <a:t>Ignytion </a:t>
            </a:r>
            <a:r>
              <a:rPr lang="en-US" sz="825" b="1" dirty="0">
                <a:solidFill>
                  <a:srgbClr val="F7941D"/>
                </a:solidFill>
                <a:latin typeface="Aptos Display" panose="020B0004020202020204" pitchFamily="34" charset="0"/>
                <a:ea typeface="IBM Plex Sans" pitchFamily="34" charset="-122"/>
                <a:cs typeface="IBM Plex Sans" pitchFamily="34" charset="-120"/>
              </a:rPr>
              <a:t>io</a:t>
            </a:r>
            <a:endParaRPr lang="en-US" sz="825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850" cy="10696575"/>
          </a:xfrm>
          <a:prstGeom prst="rect">
            <a:avLst/>
          </a:prstGeom>
          <a:ln/>
          <a:effectLst>
            <a:outerShdw blurRad="2667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92430"/>
            <a:ext cx="7562850" cy="15240"/>
          </a:xfrm>
          <a:prstGeom prst="rect">
            <a:avLst/>
          </a:prstGeom>
          <a:solidFill>
            <a:srgbClr val="EF9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142875"/>
            <a:ext cx="3275267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38" kern="0" spc="159" dirty="0">
                <a:solidFill>
                  <a:srgbClr val="A1A1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ASIC DESIGN &amp; VERIFICATION · TECHNICAL LAB NOTE</a:t>
            </a:r>
            <a:endParaRPr lang="en-US" sz="638" dirty="0"/>
          </a:p>
        </p:txBody>
      </p:sp>
      <p:sp>
        <p:nvSpPr>
          <p:cNvPr id="6" name="Text 4"/>
          <p:cNvSpPr/>
          <p:nvPr/>
        </p:nvSpPr>
        <p:spPr>
          <a:xfrm>
            <a:off x="685800" y="880110"/>
            <a:ext cx="1741170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75" kern="0" spc="236" dirty="0">
                <a:solidFill>
                  <a:srgbClr val="EF952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 E C T I O N  2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685800" y="1146811"/>
            <a:ext cx="681037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1111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Reference Design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85800" y="1573530"/>
            <a:ext cx="6376988" cy="26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013" dirty="0">
                <a:solidFill>
                  <a:srgbClr val="4444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small, self-contained Verilog designs — one for simulation, one for synthesis.</a:t>
            </a:r>
            <a:endParaRPr lang="en-US" sz="1013" dirty="0"/>
          </a:p>
        </p:txBody>
      </p:sp>
      <p:sp>
        <p:nvSpPr>
          <p:cNvPr id="9" name="Text 7"/>
          <p:cNvSpPr/>
          <p:nvPr/>
        </p:nvSpPr>
        <p:spPr>
          <a:xfrm>
            <a:off x="685800" y="2071688"/>
            <a:ext cx="2312122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38" kern="0" spc="179" dirty="0">
                <a:solidFill>
                  <a:srgbClr val="6B6B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 Y S T E M   S P E C I F I C A T I O N</a:t>
            </a:r>
            <a:endParaRPr lang="en-US" sz="638" dirty="0"/>
          </a:p>
        </p:txBody>
      </p:sp>
      <p:sp>
        <p:nvSpPr>
          <p:cNvPr id="10" name="Shape 8"/>
          <p:cNvSpPr/>
          <p:nvPr/>
        </p:nvSpPr>
        <p:spPr>
          <a:xfrm>
            <a:off x="685800" y="2315528"/>
            <a:ext cx="6191250" cy="2065020"/>
          </a:xfrm>
          <a:prstGeom prst="rect">
            <a:avLst/>
          </a:prstGeom>
          <a:ln w="762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93420" y="2323149"/>
            <a:ext cx="6176010" cy="3048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4870" y="2418399"/>
            <a:ext cx="155067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13" kern="0" spc="107" dirty="0">
                <a:solidFill>
                  <a:srgbClr val="A1A1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COMPONENT</a:t>
            </a:r>
            <a:endParaRPr lang="en-US" sz="713" dirty="0"/>
          </a:p>
        </p:txBody>
      </p:sp>
      <p:sp>
        <p:nvSpPr>
          <p:cNvPr id="13" name="Text 11"/>
          <p:cNvSpPr/>
          <p:nvPr/>
        </p:nvSpPr>
        <p:spPr>
          <a:xfrm>
            <a:off x="2426970" y="2418399"/>
            <a:ext cx="469811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13" kern="0" spc="107" dirty="0">
                <a:solidFill>
                  <a:srgbClr val="A1A1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DETAIL</a:t>
            </a:r>
            <a:endParaRPr lang="en-US" sz="713" dirty="0"/>
          </a:p>
        </p:txBody>
      </p:sp>
      <p:sp>
        <p:nvSpPr>
          <p:cNvPr id="14" name="Shape 12"/>
          <p:cNvSpPr/>
          <p:nvPr/>
        </p:nvSpPr>
        <p:spPr>
          <a:xfrm>
            <a:off x="693420" y="2627949"/>
            <a:ext cx="6176010" cy="35052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93420" y="2970849"/>
            <a:ext cx="6176010" cy="9525"/>
          </a:xfrm>
          <a:prstGeom prst="rect">
            <a:avLst/>
          </a:prstGeom>
          <a:solidFill>
            <a:srgbClr val="EA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4870" y="2723199"/>
            <a:ext cx="15506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7777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DUT (sim)</a:t>
            </a:r>
            <a:endParaRPr lang="en-US" sz="938" dirty="0"/>
          </a:p>
        </p:txBody>
      </p:sp>
      <p:sp>
        <p:nvSpPr>
          <p:cNvPr id="17" name="Text 15"/>
          <p:cNvSpPr/>
          <p:nvPr/>
        </p:nvSpPr>
        <p:spPr>
          <a:xfrm>
            <a:off x="2426970" y="2723199"/>
            <a:ext cx="469811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63" dirty="0">
                <a:solidFill>
                  <a:srgbClr val="1111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Mycounter </a:t>
            </a:r>
            <a:r>
              <a:rPr lang="en-US" sz="938" dirty="0">
                <a:solidFill>
                  <a:srgbClr val="1111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4-bit synchronous up-counter with synchronous reset</a:t>
            </a:r>
            <a:endParaRPr lang="en-US" sz="938" dirty="0"/>
          </a:p>
        </p:txBody>
      </p:sp>
      <p:sp>
        <p:nvSpPr>
          <p:cNvPr id="18" name="Shape 16"/>
          <p:cNvSpPr/>
          <p:nvPr/>
        </p:nvSpPr>
        <p:spPr>
          <a:xfrm>
            <a:off x="693420" y="3321367"/>
            <a:ext cx="6176010" cy="9525"/>
          </a:xfrm>
          <a:prstGeom prst="rect">
            <a:avLst/>
          </a:prstGeom>
          <a:solidFill>
            <a:srgbClr val="EA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4870" y="3073717"/>
            <a:ext cx="15506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7777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Testbench</a:t>
            </a:r>
            <a:endParaRPr lang="en-US" sz="938" dirty="0"/>
          </a:p>
        </p:txBody>
      </p:sp>
      <p:sp>
        <p:nvSpPr>
          <p:cNvPr id="20" name="Text 18"/>
          <p:cNvSpPr/>
          <p:nvPr/>
        </p:nvSpPr>
        <p:spPr>
          <a:xfrm>
            <a:off x="2426970" y="3073717"/>
            <a:ext cx="469811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63" dirty="0">
                <a:solidFill>
                  <a:srgbClr val="1111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Testbench.v </a:t>
            </a:r>
            <a:r>
              <a:rPr lang="en-US" sz="938" dirty="0">
                <a:solidFill>
                  <a:srgbClr val="1111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clock/reset stimulus, VCD dump, $monitor console trace</a:t>
            </a:r>
            <a:endParaRPr lang="en-US" sz="938" dirty="0"/>
          </a:p>
        </p:txBody>
      </p:sp>
      <p:sp>
        <p:nvSpPr>
          <p:cNvPr id="21" name="Shape 19"/>
          <p:cNvSpPr/>
          <p:nvPr/>
        </p:nvSpPr>
        <p:spPr>
          <a:xfrm>
            <a:off x="693420" y="3328988"/>
            <a:ext cx="6176010" cy="35052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93420" y="3671887"/>
            <a:ext cx="6176010" cy="9525"/>
          </a:xfrm>
          <a:prstGeom prst="rect">
            <a:avLst/>
          </a:prstGeom>
          <a:solidFill>
            <a:srgbClr val="EA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64870" y="3424238"/>
            <a:ext cx="15506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7777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DUT (synth)</a:t>
            </a:r>
            <a:endParaRPr lang="en-US" sz="938" dirty="0"/>
          </a:p>
        </p:txBody>
      </p:sp>
      <p:sp>
        <p:nvSpPr>
          <p:cNvPr id="24" name="Text 22"/>
          <p:cNvSpPr/>
          <p:nvPr/>
        </p:nvSpPr>
        <p:spPr>
          <a:xfrm>
            <a:off x="2426970" y="3424238"/>
            <a:ext cx="469811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63" dirty="0">
                <a:solidFill>
                  <a:srgbClr val="1111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top </a:t>
            </a:r>
            <a:r>
              <a:rPr lang="en-US" sz="938" dirty="0">
                <a:solidFill>
                  <a:srgbClr val="1111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2:1 multiplexer feeding a clocked register</a:t>
            </a:r>
            <a:endParaRPr lang="en-US" sz="938" dirty="0"/>
          </a:p>
        </p:txBody>
      </p:sp>
      <p:sp>
        <p:nvSpPr>
          <p:cNvPr id="25" name="Shape 23"/>
          <p:cNvSpPr/>
          <p:nvPr/>
        </p:nvSpPr>
        <p:spPr>
          <a:xfrm>
            <a:off x="693420" y="4022408"/>
            <a:ext cx="6176010" cy="9525"/>
          </a:xfrm>
          <a:prstGeom prst="rect">
            <a:avLst/>
          </a:prstGeom>
          <a:solidFill>
            <a:srgbClr val="EA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4870" y="3774758"/>
            <a:ext cx="15506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7777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Cell library</a:t>
            </a:r>
            <a:endParaRPr lang="en-US" sz="938" dirty="0"/>
          </a:p>
        </p:txBody>
      </p:sp>
      <p:sp>
        <p:nvSpPr>
          <p:cNvPr id="27" name="Text 25"/>
          <p:cNvSpPr/>
          <p:nvPr/>
        </p:nvSpPr>
        <p:spPr>
          <a:xfrm>
            <a:off x="2426970" y="3774758"/>
            <a:ext cx="469811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1111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NangateOpenCellLibrary_typical.lib </a:t>
            </a:r>
            <a:r>
              <a:rPr lang="en-US" sz="938" dirty="0">
                <a:solidFill>
                  <a:srgbClr val="1111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(open 45 nm, for mapping)</a:t>
            </a:r>
            <a:endParaRPr lang="en-US" sz="938" dirty="0"/>
          </a:p>
        </p:txBody>
      </p:sp>
      <p:sp>
        <p:nvSpPr>
          <p:cNvPr id="28" name="Shape 26"/>
          <p:cNvSpPr/>
          <p:nvPr/>
        </p:nvSpPr>
        <p:spPr>
          <a:xfrm>
            <a:off x="693420" y="4030028"/>
            <a:ext cx="6176010" cy="3429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64870" y="4125278"/>
            <a:ext cx="15506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7777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Workbench</a:t>
            </a:r>
            <a:endParaRPr lang="en-US" sz="938" dirty="0"/>
          </a:p>
        </p:txBody>
      </p:sp>
      <p:sp>
        <p:nvSpPr>
          <p:cNvPr id="30" name="Text 28"/>
          <p:cNvSpPr/>
          <p:nvPr/>
        </p:nvSpPr>
        <p:spPr>
          <a:xfrm>
            <a:off x="2426970" y="4125278"/>
            <a:ext cx="469811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1111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Crucible CLI (</a:t>
            </a:r>
            <a:r>
              <a:rPr lang="en-US" sz="863" dirty="0">
                <a:solidFill>
                  <a:srgbClr val="1111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igny</a:t>
            </a:r>
            <a:r>
              <a:rPr lang="en-US" sz="938" dirty="0">
                <a:solidFill>
                  <a:srgbClr val="1111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), Community tier</a:t>
            </a:r>
            <a:endParaRPr lang="en-US" sz="938" dirty="0"/>
          </a:p>
        </p:txBody>
      </p:sp>
      <p:sp>
        <p:nvSpPr>
          <p:cNvPr id="31" name="Text 29"/>
          <p:cNvSpPr/>
          <p:nvPr/>
        </p:nvSpPr>
        <p:spPr>
          <a:xfrm>
            <a:off x="685800" y="4868228"/>
            <a:ext cx="108299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75" kern="0" spc="236" dirty="0">
                <a:solidFill>
                  <a:srgbClr val="EF952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 E C T I O N 3</a:t>
            </a:r>
            <a:endParaRPr lang="en-US" sz="675" dirty="0"/>
          </a:p>
        </p:txBody>
      </p:sp>
      <p:sp>
        <p:nvSpPr>
          <p:cNvPr id="32" name="Text 30"/>
          <p:cNvSpPr/>
          <p:nvPr/>
        </p:nvSpPr>
        <p:spPr>
          <a:xfrm>
            <a:off x="685800" y="5081588"/>
            <a:ext cx="681037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1111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Crucible Workspace Setup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685800" y="5508308"/>
            <a:ext cx="6376988" cy="501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013" dirty="0">
                <a:solidFill>
                  <a:srgbClr val="4444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  tools — </a:t>
            </a:r>
            <a:r>
              <a:rPr lang="en-US" sz="900" dirty="0">
                <a:solidFill>
                  <a:srgbClr val="4444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iverilog </a:t>
            </a:r>
            <a:r>
              <a:rPr lang="en-US" sz="1013" dirty="0">
                <a:solidFill>
                  <a:srgbClr val="4444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(which provides </a:t>
            </a:r>
            <a:r>
              <a:rPr lang="en-US" sz="900" dirty="0">
                <a:solidFill>
                  <a:srgbClr val="4444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vvp</a:t>
            </a:r>
            <a:r>
              <a:rPr lang="en-US" sz="1013" dirty="0">
                <a:solidFill>
                  <a:srgbClr val="4444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), </a:t>
            </a:r>
            <a:r>
              <a:rPr lang="en-US" sz="900" dirty="0">
                <a:solidFill>
                  <a:srgbClr val="4444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gtkwave</a:t>
            </a:r>
            <a:r>
              <a:rPr lang="en-US" sz="1013" dirty="0">
                <a:solidFill>
                  <a:srgbClr val="4444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and </a:t>
            </a:r>
            <a:r>
              <a:rPr lang="en-US" sz="900" dirty="0">
                <a:solidFill>
                  <a:srgbClr val="4444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yosys </a:t>
            </a:r>
            <a:r>
              <a:rPr lang="en-US" sz="1013" dirty="0">
                <a:solidFill>
                  <a:srgbClr val="4444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are in the Crucible catalog. One environment, one workspace, three installs:</a:t>
            </a:r>
            <a:endParaRPr lang="en-US" sz="1013" dirty="0"/>
          </a:p>
        </p:txBody>
      </p:sp>
      <p:sp>
        <p:nvSpPr>
          <p:cNvPr id="36" name="Shape 34"/>
          <p:cNvSpPr/>
          <p:nvPr/>
        </p:nvSpPr>
        <p:spPr>
          <a:xfrm>
            <a:off x="685800" y="8685847"/>
            <a:ext cx="6191250" cy="853678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85800" y="8685847"/>
            <a:ext cx="15240" cy="853678"/>
          </a:xfrm>
          <a:prstGeom prst="rect">
            <a:avLst/>
          </a:prstGeom>
          <a:solidFill>
            <a:srgbClr val="EF9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53440" y="8800147"/>
            <a:ext cx="6047347" cy="663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938" dirty="0">
                <a:solidFill>
                  <a:srgbClr val="1111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igny run works: </a:t>
            </a:r>
            <a:r>
              <a:rPr lang="en-US" sz="938" dirty="0">
                <a:solidFill>
                  <a:srgbClr val="4444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arguments after the binary name are passed verbatim to the tool. Because </a:t>
            </a:r>
            <a:r>
              <a:rPr lang="en-US" sz="863" dirty="0">
                <a:solidFill>
                  <a:srgbClr val="4444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iverilog </a:t>
            </a:r>
            <a:r>
              <a:rPr lang="en-US" sz="938" dirty="0">
                <a:solidFill>
                  <a:srgbClr val="4444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declares </a:t>
            </a:r>
            <a:r>
              <a:rPr lang="en-US" sz="863" dirty="0">
                <a:solidFill>
                  <a:srgbClr val="4444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provides = ["iverilog", "vvp"]</a:t>
            </a:r>
            <a:r>
              <a:rPr lang="en-US" sz="938" dirty="0">
                <a:solidFill>
                  <a:srgbClr val="4444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</a:t>
            </a:r>
            <a:r>
              <a:rPr lang="en-US" sz="863" dirty="0">
                <a:solidFill>
                  <a:srgbClr val="4444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igny run vvp … </a:t>
            </a:r>
            <a:r>
              <a:rPr lang="en-US" sz="938" dirty="0">
                <a:solidFill>
                  <a:srgbClr val="4444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works with no separate install. Always run from the workspace root (the folder containing </a:t>
            </a:r>
            <a:r>
              <a:rPr lang="en-US" sz="863" dirty="0">
                <a:solidFill>
                  <a:srgbClr val="4444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crucible.toml</a:t>
            </a:r>
            <a:r>
              <a:rPr lang="en-US" sz="938" dirty="0">
                <a:solidFill>
                  <a:srgbClr val="4444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).</a:t>
            </a:r>
            <a:endParaRPr lang="en-US" sz="938" dirty="0"/>
          </a:p>
        </p:txBody>
      </p:sp>
      <p:sp>
        <p:nvSpPr>
          <p:cNvPr id="39" name="Shape 37"/>
          <p:cNvSpPr/>
          <p:nvPr/>
        </p:nvSpPr>
        <p:spPr>
          <a:xfrm>
            <a:off x="0" y="10292716"/>
            <a:ext cx="7562850" cy="9525"/>
          </a:xfrm>
          <a:prstGeom prst="rect">
            <a:avLst/>
          </a:prstGeom>
          <a:solidFill>
            <a:srgbClr val="EA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85800" y="10433684"/>
            <a:ext cx="1556564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A1A1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© 2026 Ignytion IO · ignytion.io</a:t>
            </a:r>
            <a:endParaRPr lang="en-US" sz="788" dirty="0"/>
          </a:p>
        </p:txBody>
      </p:sp>
      <p:sp>
        <p:nvSpPr>
          <p:cNvPr id="41" name="Text 39"/>
          <p:cNvSpPr/>
          <p:nvPr/>
        </p:nvSpPr>
        <p:spPr>
          <a:xfrm>
            <a:off x="3791426" y="10433684"/>
            <a:ext cx="114573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A1A1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June 2026 · Version 1.0</a:t>
            </a:r>
            <a:endParaRPr lang="en-US" sz="788" dirty="0"/>
          </a:p>
        </p:txBody>
      </p:sp>
      <p:sp>
        <p:nvSpPr>
          <p:cNvPr id="42" name="Text 40"/>
          <p:cNvSpPr/>
          <p:nvPr/>
        </p:nvSpPr>
        <p:spPr>
          <a:xfrm>
            <a:off x="6551533" y="10433684"/>
            <a:ext cx="40171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A1A1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 / 09</a:t>
            </a:r>
            <a:endParaRPr lang="en-US" sz="788" dirty="0"/>
          </a:p>
        </p:txBody>
      </p:sp>
      <p:pic>
        <p:nvPicPr>
          <p:cNvPr id="44" name="Image 0" descr="preencoded.png">
            <a:extLst>
              <a:ext uri="{FF2B5EF4-FFF2-40B4-BE49-F238E27FC236}">
                <a16:creationId xmlns:a16="http://schemas.microsoft.com/office/drawing/2014/main" id="{DF1DEEAC-977B-39BB-5905-D7EC3A542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2176" y="77470"/>
            <a:ext cx="165625" cy="209551"/>
          </a:xfrm>
          <a:prstGeom prst="rect">
            <a:avLst/>
          </a:prstGeom>
        </p:spPr>
      </p:pic>
      <p:sp>
        <p:nvSpPr>
          <p:cNvPr id="46" name="Text 3">
            <a:extLst>
              <a:ext uri="{FF2B5EF4-FFF2-40B4-BE49-F238E27FC236}">
                <a16:creationId xmlns:a16="http://schemas.microsoft.com/office/drawing/2014/main" id="{23867FD9-81C4-6DE2-1D23-3D2A31B88DF8}"/>
              </a:ext>
            </a:extLst>
          </p:cNvPr>
          <p:cNvSpPr/>
          <p:nvPr/>
        </p:nvSpPr>
        <p:spPr>
          <a:xfrm>
            <a:off x="6316980" y="130808"/>
            <a:ext cx="594598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C1A17"/>
                </a:solidFill>
                <a:latin typeface="Aptos Display" panose="020B0004020202020204" pitchFamily="34" charset="0"/>
                <a:ea typeface="IBM Plex Sans" pitchFamily="34" charset="-122"/>
                <a:cs typeface="IBM Plex Sans" pitchFamily="34" charset="-120"/>
              </a:rPr>
              <a:t>Ignytion </a:t>
            </a:r>
            <a:r>
              <a:rPr lang="en-US" sz="825" b="1" dirty="0">
                <a:solidFill>
                  <a:srgbClr val="F7941D"/>
                </a:solidFill>
                <a:latin typeface="Aptos Display" panose="020B0004020202020204" pitchFamily="34" charset="0"/>
                <a:ea typeface="IBM Plex Sans" pitchFamily="34" charset="-122"/>
                <a:cs typeface="IBM Plex Sans" pitchFamily="34" charset="-120"/>
              </a:rPr>
              <a:t>io</a:t>
            </a:r>
            <a:endParaRPr lang="en-US" sz="825" dirty="0">
              <a:latin typeface="Aptos Display" panose="020B0004020202020204" pitchFamily="34" charset="0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B899139D-37D7-8ACE-9221-992F045C05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6056680"/>
            <a:ext cx="619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850" cy="10696575"/>
          </a:xfrm>
          <a:prstGeom prst="rect">
            <a:avLst/>
          </a:prstGeom>
          <a:ln/>
          <a:effectLst>
            <a:outerShdw blurRad="2667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392430"/>
            <a:ext cx="7562850" cy="15240"/>
          </a:xfrm>
          <a:prstGeom prst="rect">
            <a:avLst/>
          </a:prstGeom>
          <a:solidFill>
            <a:srgbClr val="EF9529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42875"/>
            <a:ext cx="3275267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38" kern="0" spc="159" dirty="0">
                <a:solidFill>
                  <a:srgbClr val="A1A1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ASIC DESIGN &amp; VERIFICATION · TECHNICAL LAB NOTE</a:t>
            </a:r>
            <a:endParaRPr lang="en-US" sz="638" dirty="0"/>
          </a:p>
        </p:txBody>
      </p:sp>
      <p:sp>
        <p:nvSpPr>
          <p:cNvPr id="6" name="Text 4"/>
          <p:cNvSpPr/>
          <p:nvPr/>
        </p:nvSpPr>
        <p:spPr>
          <a:xfrm>
            <a:off x="685800" y="933450"/>
            <a:ext cx="108299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75" kern="0" spc="236" dirty="0">
                <a:solidFill>
                  <a:srgbClr val="EF952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 E C T I O N 4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685800" y="1146809"/>
            <a:ext cx="681037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1111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Experiment 1 — RTL Simulation and Waveform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85800" y="1725932"/>
            <a:ext cx="1046440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38" kern="0" spc="179" dirty="0">
                <a:solidFill>
                  <a:srgbClr val="6B6B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B J E C T I V E</a:t>
            </a:r>
            <a:endParaRPr lang="en-US" sz="638" dirty="0"/>
          </a:p>
        </p:txBody>
      </p:sp>
      <p:sp>
        <p:nvSpPr>
          <p:cNvPr id="9" name="Text 7"/>
          <p:cNvSpPr/>
          <p:nvPr/>
        </p:nvSpPr>
        <p:spPr>
          <a:xfrm>
            <a:off x="685800" y="1950723"/>
            <a:ext cx="6376988" cy="501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013" dirty="0">
                <a:solidFill>
                  <a:srgbClr val="4444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Compile a 4-bit counter against its testbench, run the simulation, and confirm correct count-and-reset behaviour on the waveform.</a:t>
            </a:r>
            <a:endParaRPr lang="en-US" sz="1013" dirty="0"/>
          </a:p>
        </p:txBody>
      </p:sp>
      <p:sp>
        <p:nvSpPr>
          <p:cNvPr id="10" name="Text 8"/>
          <p:cNvSpPr/>
          <p:nvPr/>
        </p:nvSpPr>
        <p:spPr>
          <a:xfrm>
            <a:off x="685800" y="2756534"/>
            <a:ext cx="2918770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38" kern="0" spc="179" dirty="0">
                <a:solidFill>
                  <a:srgbClr val="6B6B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 E S I G N U N D E R T E S T — MYCOUNTER.V</a:t>
            </a:r>
            <a:endParaRPr lang="en-US" sz="638" dirty="0"/>
          </a:p>
        </p:txBody>
      </p:sp>
      <p:sp>
        <p:nvSpPr>
          <p:cNvPr id="11" name="Shape 9"/>
          <p:cNvSpPr/>
          <p:nvPr/>
        </p:nvSpPr>
        <p:spPr>
          <a:xfrm>
            <a:off x="685800" y="3000375"/>
            <a:ext cx="6191250" cy="2549843"/>
          </a:xfrm>
          <a:prstGeom prst="roundRect">
            <a:avLst>
              <a:gd name="adj" fmla="val 1121"/>
            </a:avLst>
          </a:prstGeom>
          <a:solidFill>
            <a:srgbClr val="0B0B0C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190875"/>
            <a:ext cx="5906072" cy="220694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863" dirty="0">
                <a:solidFill>
                  <a:srgbClr val="EF952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 </a:t>
            </a:r>
            <a:r>
              <a:rPr lang="en-US" sz="863" dirty="0">
                <a:solidFill>
                  <a:srgbClr val="EDED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Mycounter(CLK, RST, OUT);   </a:t>
            </a:r>
            <a:endParaRPr lang="en-US" sz="863" dirty="0"/>
          </a:p>
          <a:p>
            <a:pPr marL="0" indent="0" algn="l">
              <a:lnSpc>
                <a:spcPct val="180000"/>
              </a:lnSpc>
              <a:buNone/>
            </a:pPr>
            <a:r>
              <a:rPr lang="en-US" sz="863" dirty="0">
                <a:solidFill>
                  <a:srgbClr val="A1A1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input </a:t>
            </a:r>
            <a:r>
              <a:rPr lang="en-US" sz="863" dirty="0">
                <a:solidFill>
                  <a:srgbClr val="EDED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CLK, RST;  </a:t>
            </a:r>
            <a:endParaRPr lang="en-US" sz="863" dirty="0"/>
          </a:p>
          <a:p>
            <a:pPr marL="0" indent="0" algn="l">
              <a:lnSpc>
                <a:spcPct val="180000"/>
              </a:lnSpc>
              <a:buNone/>
            </a:pPr>
            <a:r>
              <a:rPr lang="en-US" sz="863" dirty="0">
                <a:solidFill>
                  <a:srgbClr val="A1A1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output </a:t>
            </a:r>
            <a:r>
              <a:rPr lang="en-US" sz="863" dirty="0">
                <a:solidFill>
                  <a:srgbClr val="EDED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[3:0] OUT;  </a:t>
            </a:r>
            <a:endParaRPr lang="en-US" sz="863" dirty="0"/>
          </a:p>
          <a:p>
            <a:pPr marL="0" indent="0" algn="l">
              <a:lnSpc>
                <a:spcPct val="180000"/>
              </a:lnSpc>
              <a:buNone/>
            </a:pPr>
            <a:r>
              <a:rPr lang="en-US" sz="863" dirty="0">
                <a:solidFill>
                  <a:srgbClr val="A1A1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reg </a:t>
            </a:r>
            <a:r>
              <a:rPr lang="en-US" sz="863" dirty="0">
                <a:solidFill>
                  <a:srgbClr val="EDED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[3:0] OUT;</a:t>
            </a:r>
            <a:endParaRPr lang="en-US" sz="863" dirty="0"/>
          </a:p>
          <a:p>
            <a:pPr marL="0" indent="0" algn="l">
              <a:lnSpc>
                <a:spcPct val="180000"/>
              </a:lnSpc>
              <a:buNone/>
            </a:pPr>
            <a:r>
              <a:rPr lang="en-US" sz="863" dirty="0">
                <a:solidFill>
                  <a:srgbClr val="A1A1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always</a:t>
            </a:r>
            <a:r>
              <a:rPr lang="en-US" sz="863" dirty="0">
                <a:solidFill>
                  <a:srgbClr val="EDED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@(</a:t>
            </a:r>
            <a:r>
              <a:rPr lang="en-US" sz="863" dirty="0">
                <a:solidFill>
                  <a:srgbClr val="A1A1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posedge </a:t>
            </a:r>
            <a:r>
              <a:rPr lang="en-US" sz="863" dirty="0">
                <a:solidFill>
                  <a:srgbClr val="EDED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CLK) </a:t>
            </a:r>
            <a:r>
              <a:rPr lang="en-US" sz="863" dirty="0">
                <a:solidFill>
                  <a:srgbClr val="A1A1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begin </a:t>
            </a:r>
            <a:r>
              <a:rPr lang="en-US" sz="863" dirty="0">
                <a:solidFill>
                  <a:srgbClr val="EDED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</a:t>
            </a:r>
          </a:p>
          <a:p>
            <a:pPr marL="0" indent="0" algn="l">
              <a:lnSpc>
                <a:spcPct val="180000"/>
              </a:lnSpc>
              <a:buNone/>
            </a:pPr>
            <a:r>
              <a:rPr lang="en-US" sz="863" dirty="0">
                <a:solidFill>
                  <a:srgbClr val="EDED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</a:t>
            </a:r>
            <a:r>
              <a:rPr lang="en-US" sz="863" dirty="0">
                <a:solidFill>
                  <a:srgbClr val="A1A1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if</a:t>
            </a:r>
            <a:r>
              <a:rPr lang="en-US" sz="863" dirty="0">
                <a:solidFill>
                  <a:srgbClr val="EDED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(RST == 1'b1) OUT &lt;= 4'b0000; </a:t>
            </a:r>
          </a:p>
          <a:p>
            <a:pPr marL="0" indent="0" algn="l">
              <a:lnSpc>
                <a:spcPct val="180000"/>
              </a:lnSpc>
              <a:buNone/>
            </a:pPr>
            <a:r>
              <a:rPr lang="en-US" sz="863" dirty="0">
                <a:solidFill>
                  <a:srgbClr val="A1A1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else</a:t>
            </a:r>
            <a:r>
              <a:rPr lang="en-US" sz="863" dirty="0">
                <a:solidFill>
                  <a:srgbClr val="EDED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OUT &lt;= OUT + 1;   </a:t>
            </a:r>
            <a:r>
              <a:rPr lang="en-US" sz="863" dirty="0">
                <a:solidFill>
                  <a:srgbClr val="6B6B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count up, wraps 15 → 0 </a:t>
            </a:r>
            <a:r>
              <a:rPr lang="en-US" sz="863" dirty="0">
                <a:solidFill>
                  <a:srgbClr val="EDED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</a:p>
          <a:p>
            <a:pPr marL="0" indent="0" algn="l">
              <a:lnSpc>
                <a:spcPct val="180000"/>
              </a:lnSpc>
              <a:buNone/>
            </a:pPr>
            <a:r>
              <a:rPr lang="en-US" sz="863" dirty="0">
                <a:solidFill>
                  <a:srgbClr val="A1A1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end </a:t>
            </a:r>
          </a:p>
          <a:p>
            <a:pPr marL="0" indent="0" algn="l">
              <a:lnSpc>
                <a:spcPct val="180000"/>
              </a:lnSpc>
              <a:buNone/>
            </a:pPr>
            <a:r>
              <a:rPr lang="en-US" sz="863" dirty="0" err="1">
                <a:solidFill>
                  <a:srgbClr val="EF952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endmodule</a:t>
            </a:r>
            <a:endParaRPr lang="en-US" sz="863" dirty="0"/>
          </a:p>
        </p:txBody>
      </p:sp>
      <p:sp>
        <p:nvSpPr>
          <p:cNvPr id="13" name="Text 11"/>
          <p:cNvSpPr/>
          <p:nvPr/>
        </p:nvSpPr>
        <p:spPr>
          <a:xfrm>
            <a:off x="685800" y="5893119"/>
            <a:ext cx="1995178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38" kern="0" spc="179" dirty="0">
                <a:solidFill>
                  <a:srgbClr val="6B6B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 T I M U L U S — TESTBENCH.V</a:t>
            </a:r>
            <a:endParaRPr lang="en-US" sz="638" dirty="0"/>
          </a:p>
        </p:txBody>
      </p:sp>
      <p:sp>
        <p:nvSpPr>
          <p:cNvPr id="14" name="Shape 12"/>
          <p:cNvSpPr/>
          <p:nvPr/>
        </p:nvSpPr>
        <p:spPr>
          <a:xfrm>
            <a:off x="685800" y="6136960"/>
            <a:ext cx="6191250" cy="1714500"/>
          </a:xfrm>
          <a:prstGeom prst="rect">
            <a:avLst/>
          </a:prstGeom>
          <a:ln w="762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3420" y="6144578"/>
            <a:ext cx="6176010" cy="3048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6" name="Text 14"/>
          <p:cNvSpPr/>
          <p:nvPr/>
        </p:nvSpPr>
        <p:spPr>
          <a:xfrm>
            <a:off x="864870" y="6239828"/>
            <a:ext cx="11239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13" kern="0" spc="107" dirty="0">
                <a:solidFill>
                  <a:srgbClr val="A1A1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TIME (NS)</a:t>
            </a:r>
            <a:endParaRPr lang="en-US" sz="713" dirty="0"/>
          </a:p>
        </p:txBody>
      </p:sp>
      <p:sp>
        <p:nvSpPr>
          <p:cNvPr id="17" name="Text 15"/>
          <p:cNvSpPr/>
          <p:nvPr/>
        </p:nvSpPr>
        <p:spPr>
          <a:xfrm>
            <a:off x="2065020" y="6239828"/>
            <a:ext cx="509625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13" kern="0" spc="107" dirty="0">
                <a:solidFill>
                  <a:srgbClr val="A1A1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EVENT</a:t>
            </a:r>
            <a:endParaRPr lang="en-US" sz="713" dirty="0"/>
          </a:p>
        </p:txBody>
      </p:sp>
      <p:sp>
        <p:nvSpPr>
          <p:cNvPr id="18" name="Shape 16"/>
          <p:cNvSpPr/>
          <p:nvPr/>
        </p:nvSpPr>
        <p:spPr>
          <a:xfrm>
            <a:off x="693420" y="6449378"/>
            <a:ext cx="6176010" cy="35052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693420" y="6792278"/>
            <a:ext cx="6176010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20" name="Text 18"/>
          <p:cNvSpPr/>
          <p:nvPr/>
        </p:nvSpPr>
        <p:spPr>
          <a:xfrm>
            <a:off x="864870" y="6544628"/>
            <a:ext cx="11239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444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65020" y="6544628"/>
            <a:ext cx="509625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63" dirty="0">
                <a:solidFill>
                  <a:srgbClr val="1111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Clock=0, Reset=1 </a:t>
            </a:r>
            <a:r>
              <a:rPr lang="en-US" sz="938" dirty="0">
                <a:solidFill>
                  <a:srgbClr val="1111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counter held in reset</a:t>
            </a:r>
            <a:endParaRPr lang="en-US" sz="938" dirty="0"/>
          </a:p>
        </p:txBody>
      </p:sp>
      <p:sp>
        <p:nvSpPr>
          <p:cNvPr id="22" name="Shape 20"/>
          <p:cNvSpPr/>
          <p:nvPr/>
        </p:nvSpPr>
        <p:spPr>
          <a:xfrm>
            <a:off x="693420" y="7142797"/>
            <a:ext cx="6176010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23" name="Text 21"/>
          <p:cNvSpPr/>
          <p:nvPr/>
        </p:nvSpPr>
        <p:spPr>
          <a:xfrm>
            <a:off x="864870" y="6895147"/>
            <a:ext cx="11239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444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065020" y="6895147"/>
            <a:ext cx="509625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63" dirty="0">
                <a:solidFill>
                  <a:srgbClr val="1111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Reset=0 </a:t>
            </a:r>
            <a:r>
              <a:rPr lang="en-US" sz="938" dirty="0">
                <a:solidFill>
                  <a:srgbClr val="1111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counting begins</a:t>
            </a:r>
            <a:endParaRPr lang="en-US" sz="938" dirty="0"/>
          </a:p>
        </p:txBody>
      </p:sp>
      <p:sp>
        <p:nvSpPr>
          <p:cNvPr id="25" name="Shape 23"/>
          <p:cNvSpPr/>
          <p:nvPr/>
        </p:nvSpPr>
        <p:spPr>
          <a:xfrm>
            <a:off x="693420" y="7150419"/>
            <a:ext cx="6176010" cy="35052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Shape 24"/>
          <p:cNvSpPr/>
          <p:nvPr/>
        </p:nvSpPr>
        <p:spPr>
          <a:xfrm>
            <a:off x="693420" y="7493319"/>
            <a:ext cx="6176010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27" name="Text 25"/>
          <p:cNvSpPr/>
          <p:nvPr/>
        </p:nvSpPr>
        <p:spPr>
          <a:xfrm>
            <a:off x="864870" y="7245669"/>
            <a:ext cx="11239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444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2100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065020" y="7245669"/>
            <a:ext cx="509625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63" dirty="0">
                <a:solidFill>
                  <a:srgbClr val="1111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Reset=1 </a:t>
            </a:r>
            <a:r>
              <a:rPr lang="en-US" sz="938" dirty="0">
                <a:solidFill>
                  <a:srgbClr val="1111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counter forced back to 0</a:t>
            </a:r>
            <a:endParaRPr lang="en-US" sz="938" dirty="0"/>
          </a:p>
        </p:txBody>
      </p:sp>
      <p:sp>
        <p:nvSpPr>
          <p:cNvPr id="29" name="Text 27"/>
          <p:cNvSpPr/>
          <p:nvPr/>
        </p:nvSpPr>
        <p:spPr>
          <a:xfrm>
            <a:off x="864870" y="7596187"/>
            <a:ext cx="11239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444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2500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065020" y="7596187"/>
            <a:ext cx="509625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63" dirty="0">
                <a:solidFill>
                  <a:srgbClr val="1111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$finish </a:t>
            </a:r>
            <a:r>
              <a:rPr lang="en-US" sz="938" dirty="0">
                <a:solidFill>
                  <a:srgbClr val="1111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simulation ends</a:t>
            </a:r>
            <a:endParaRPr lang="en-US" sz="938" dirty="0"/>
          </a:p>
        </p:txBody>
      </p:sp>
      <p:sp>
        <p:nvSpPr>
          <p:cNvPr id="31" name="Text 29"/>
          <p:cNvSpPr/>
          <p:nvPr/>
        </p:nvSpPr>
        <p:spPr>
          <a:xfrm>
            <a:off x="685800" y="8003860"/>
            <a:ext cx="6376988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900" i="1" dirty="0">
                <a:solidFill>
                  <a:srgbClr val="7777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Clock toggles every 50 ns (</a:t>
            </a:r>
            <a:r>
              <a:rPr lang="en-US" sz="825" dirty="0">
                <a:solidFill>
                  <a:srgbClr val="7777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always #50 Clock=~Clock</a:t>
            </a:r>
            <a:r>
              <a:rPr lang="en-US" sz="900" i="1" dirty="0">
                <a:solidFill>
                  <a:srgbClr val="7777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) → period = 100 ns. </a:t>
            </a:r>
            <a:r>
              <a:rPr lang="en-US" sz="825" dirty="0">
                <a:solidFill>
                  <a:srgbClr val="7777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$dumpfile("count.vcd") </a:t>
            </a:r>
            <a:r>
              <a:rPr lang="en-US" sz="900" i="1" dirty="0">
                <a:solidFill>
                  <a:srgbClr val="7777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 </a:t>
            </a:r>
            <a:r>
              <a:rPr lang="en-US" sz="825" dirty="0">
                <a:solidFill>
                  <a:srgbClr val="7777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$dumpvars </a:t>
            </a:r>
            <a:r>
              <a:rPr lang="en-US" sz="900" i="1" dirty="0">
                <a:solidFill>
                  <a:srgbClr val="7777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capture all signals; </a:t>
            </a:r>
            <a:r>
              <a:rPr lang="en-US" sz="825" dirty="0">
                <a:solidFill>
                  <a:srgbClr val="7777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$monitor </a:t>
            </a:r>
            <a:r>
              <a:rPr lang="en-US" sz="900" i="1" dirty="0">
                <a:solidFill>
                  <a:srgbClr val="7777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prints time, Clock, Reset, Count on every change.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10292716"/>
            <a:ext cx="7562850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10433684"/>
            <a:ext cx="1556564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A1A1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© 2026 Ignytion IO · ignytion.io</a:t>
            </a:r>
            <a:endParaRPr lang="en-US" sz="788" dirty="0"/>
          </a:p>
        </p:txBody>
      </p:sp>
      <p:sp>
        <p:nvSpPr>
          <p:cNvPr id="34" name="Text 32"/>
          <p:cNvSpPr/>
          <p:nvPr/>
        </p:nvSpPr>
        <p:spPr>
          <a:xfrm>
            <a:off x="3791426" y="10433684"/>
            <a:ext cx="114573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A1A1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June 2026 · Version 1.0</a:t>
            </a:r>
            <a:endParaRPr lang="en-US" sz="788" dirty="0"/>
          </a:p>
        </p:txBody>
      </p:sp>
      <p:sp>
        <p:nvSpPr>
          <p:cNvPr id="35" name="Text 33"/>
          <p:cNvSpPr/>
          <p:nvPr/>
        </p:nvSpPr>
        <p:spPr>
          <a:xfrm>
            <a:off x="6551533" y="10433684"/>
            <a:ext cx="40171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A1A1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 / 09</a:t>
            </a:r>
            <a:endParaRPr lang="en-US" sz="788" dirty="0"/>
          </a:p>
        </p:txBody>
      </p:sp>
      <p:pic>
        <p:nvPicPr>
          <p:cNvPr id="37" name="Image 0" descr="preencoded.png">
            <a:extLst>
              <a:ext uri="{FF2B5EF4-FFF2-40B4-BE49-F238E27FC236}">
                <a16:creationId xmlns:a16="http://schemas.microsoft.com/office/drawing/2014/main" id="{2BB398C9-C4FF-A851-CC22-383444071A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2176" y="77470"/>
            <a:ext cx="165625" cy="209551"/>
          </a:xfrm>
          <a:prstGeom prst="rect">
            <a:avLst/>
          </a:prstGeom>
        </p:spPr>
      </p:pic>
      <p:sp>
        <p:nvSpPr>
          <p:cNvPr id="39" name="Text 3">
            <a:extLst>
              <a:ext uri="{FF2B5EF4-FFF2-40B4-BE49-F238E27FC236}">
                <a16:creationId xmlns:a16="http://schemas.microsoft.com/office/drawing/2014/main" id="{024416AB-1478-D063-1CB4-9369ABBAA25A}"/>
              </a:ext>
            </a:extLst>
          </p:cNvPr>
          <p:cNvSpPr/>
          <p:nvPr/>
        </p:nvSpPr>
        <p:spPr>
          <a:xfrm>
            <a:off x="6316980" y="130808"/>
            <a:ext cx="594598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C1A17"/>
                </a:solidFill>
                <a:latin typeface="Aptos Display" panose="020B0004020202020204" pitchFamily="34" charset="0"/>
                <a:ea typeface="IBM Plex Sans" pitchFamily="34" charset="-122"/>
                <a:cs typeface="IBM Plex Sans" pitchFamily="34" charset="-120"/>
              </a:rPr>
              <a:t>Ignytion </a:t>
            </a:r>
            <a:r>
              <a:rPr lang="en-US" sz="825" b="1" dirty="0">
                <a:solidFill>
                  <a:srgbClr val="F7941D"/>
                </a:solidFill>
                <a:latin typeface="Aptos Display" panose="020B0004020202020204" pitchFamily="34" charset="0"/>
                <a:ea typeface="IBM Plex Sans" pitchFamily="34" charset="-122"/>
                <a:cs typeface="IBM Plex Sans" pitchFamily="34" charset="-120"/>
              </a:rPr>
              <a:t>io</a:t>
            </a:r>
            <a:endParaRPr lang="en-US" sz="825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850" cy="10696575"/>
          </a:xfrm>
          <a:prstGeom prst="rect">
            <a:avLst/>
          </a:prstGeom>
          <a:ln/>
          <a:effectLst>
            <a:outerShdw blurRad="2667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92430"/>
            <a:ext cx="7562850" cy="15240"/>
          </a:xfrm>
          <a:prstGeom prst="rect">
            <a:avLst/>
          </a:prstGeom>
          <a:solidFill>
            <a:srgbClr val="EF9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142875"/>
            <a:ext cx="3275267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38" kern="0" spc="159" dirty="0">
                <a:solidFill>
                  <a:srgbClr val="A1A1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ASIC DESIGN &amp; VERIFICATION · TECHNICAL LAB NOTE</a:t>
            </a:r>
            <a:endParaRPr lang="en-US" sz="638" dirty="0"/>
          </a:p>
        </p:txBody>
      </p:sp>
      <p:sp>
        <p:nvSpPr>
          <p:cNvPr id="6" name="Text 4"/>
          <p:cNvSpPr/>
          <p:nvPr/>
        </p:nvSpPr>
        <p:spPr>
          <a:xfrm>
            <a:off x="685800" y="933450"/>
            <a:ext cx="206446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75" kern="0" spc="236" dirty="0">
                <a:solidFill>
                  <a:srgbClr val="EF952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 E C T I O N 4 ( C O N T .. )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685800" y="1154429"/>
            <a:ext cx="1086564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38" kern="0" spc="179" dirty="0">
                <a:solidFill>
                  <a:srgbClr val="6B6B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 R O C E D U R E</a:t>
            </a:r>
            <a:endParaRPr lang="en-US" sz="638" dirty="0"/>
          </a:p>
        </p:txBody>
      </p:sp>
      <p:sp>
        <p:nvSpPr>
          <p:cNvPr id="10" name="Text 8"/>
          <p:cNvSpPr/>
          <p:nvPr/>
        </p:nvSpPr>
        <p:spPr>
          <a:xfrm>
            <a:off x="685800" y="5421631"/>
            <a:ext cx="827127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38" kern="0" spc="179" dirty="0">
                <a:solidFill>
                  <a:srgbClr val="6B6B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 E S U L T S</a:t>
            </a:r>
            <a:endParaRPr lang="en-US" sz="638" dirty="0"/>
          </a:p>
        </p:txBody>
      </p:sp>
      <p:sp>
        <p:nvSpPr>
          <p:cNvPr id="11" name="Text 9"/>
          <p:cNvSpPr/>
          <p:nvPr/>
        </p:nvSpPr>
        <p:spPr>
          <a:xfrm>
            <a:off x="685800" y="5674997"/>
            <a:ext cx="180261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F952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04161" y="5665472"/>
            <a:ext cx="6152076" cy="501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013" dirty="0">
                <a:solidFill>
                  <a:srgbClr val="4444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</a:t>
            </a:r>
            <a:r>
              <a:rPr lang="en-US" sz="900" dirty="0">
                <a:solidFill>
                  <a:srgbClr val="4444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$monitor </a:t>
            </a:r>
            <a:r>
              <a:rPr lang="en-US" sz="1013" dirty="0">
                <a:solidFill>
                  <a:srgbClr val="4444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console trace shows Count holding at 0 while Reset=1, then incrementing 0, 1, 2, … , 15 and wrapping, until the reset at t=2100 drives it back to 0.</a:t>
            </a:r>
            <a:endParaRPr lang="en-US" sz="1013" dirty="0"/>
          </a:p>
        </p:txBody>
      </p:sp>
      <p:sp>
        <p:nvSpPr>
          <p:cNvPr id="13" name="Text 11"/>
          <p:cNvSpPr/>
          <p:nvPr/>
        </p:nvSpPr>
        <p:spPr>
          <a:xfrm>
            <a:off x="685800" y="6252213"/>
            <a:ext cx="180261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F952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04161" y="6242688"/>
            <a:ext cx="3927366" cy="26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vvp </a:t>
            </a:r>
            <a:r>
              <a:rPr lang="en-US" sz="1013" dirty="0">
                <a:solidFill>
                  <a:srgbClr val="4444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terminates with </a:t>
            </a:r>
            <a:r>
              <a:rPr lang="en-US" sz="900" dirty="0">
                <a:solidFill>
                  <a:srgbClr val="4444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Testbench.v:15: $finish called at 2500</a:t>
            </a:r>
            <a:r>
              <a:rPr lang="en-US" sz="1013" dirty="0">
                <a:solidFill>
                  <a:srgbClr val="4444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013" dirty="0"/>
          </a:p>
        </p:txBody>
      </p:sp>
      <p:sp>
        <p:nvSpPr>
          <p:cNvPr id="15" name="Text 13"/>
          <p:cNvSpPr/>
          <p:nvPr/>
        </p:nvSpPr>
        <p:spPr>
          <a:xfrm>
            <a:off x="685800" y="6597968"/>
            <a:ext cx="180261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F952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04161" y="6588443"/>
            <a:ext cx="4091083" cy="26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013" dirty="0">
                <a:solidFill>
                  <a:srgbClr val="4444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Artifacts produced: </a:t>
            </a:r>
            <a:r>
              <a:rPr lang="en-US" sz="900" dirty="0">
                <a:solidFill>
                  <a:srgbClr val="4444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Mycounter </a:t>
            </a:r>
            <a:r>
              <a:rPr lang="en-US" sz="1013" dirty="0">
                <a:solidFill>
                  <a:srgbClr val="4444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(compiled simulation) and </a:t>
            </a:r>
            <a:r>
              <a:rPr lang="en-US" sz="900" dirty="0">
                <a:solidFill>
                  <a:srgbClr val="4444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count.vcd</a:t>
            </a:r>
            <a:r>
              <a:rPr lang="en-US" sz="1013" dirty="0">
                <a:solidFill>
                  <a:srgbClr val="4444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013" dirty="0"/>
          </a:p>
        </p:txBody>
      </p:sp>
      <p:sp>
        <p:nvSpPr>
          <p:cNvPr id="17" name="Text 15"/>
          <p:cNvSpPr/>
          <p:nvPr/>
        </p:nvSpPr>
        <p:spPr>
          <a:xfrm>
            <a:off x="685800" y="6943724"/>
            <a:ext cx="180261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F952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04161" y="6934199"/>
            <a:ext cx="6152076" cy="501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013" dirty="0">
                <a:solidFill>
                  <a:srgbClr val="4444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GTKWave renders OUT[3:0] ramping 0→15 repeatedly between the two reset pulses; both reset edges drive it to 0.</a:t>
            </a:r>
            <a:endParaRPr lang="en-US" sz="1013" dirty="0"/>
          </a:p>
        </p:txBody>
      </p:sp>
      <p:sp>
        <p:nvSpPr>
          <p:cNvPr id="19" name="Shape 17"/>
          <p:cNvSpPr/>
          <p:nvPr/>
        </p:nvSpPr>
        <p:spPr>
          <a:xfrm>
            <a:off x="685800" y="7701915"/>
            <a:ext cx="6191250" cy="830580"/>
          </a:xfrm>
          <a:prstGeom prst="rect">
            <a:avLst/>
          </a:prstGeom>
          <a:solidFill>
            <a:srgbClr val="FAFAFA"/>
          </a:solidFill>
          <a:ln w="762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83920" y="7987665"/>
            <a:ext cx="21895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EF952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79076" y="7861938"/>
            <a:ext cx="6049840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1111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Experiment 1 — PASS</a:t>
            </a:r>
            <a:endParaRPr lang="en-US" sz="1013" dirty="0"/>
          </a:p>
        </p:txBody>
      </p:sp>
      <p:sp>
        <p:nvSpPr>
          <p:cNvPr id="22" name="Text 20"/>
          <p:cNvSpPr/>
          <p:nvPr/>
        </p:nvSpPr>
        <p:spPr>
          <a:xfrm>
            <a:off x="1179076" y="8067674"/>
            <a:ext cx="56648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7777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write-compile-simulate-view cycle runs end-to-end through </a:t>
            </a:r>
            <a:r>
              <a:rPr lang="en-US" sz="863" dirty="0">
                <a:solidFill>
                  <a:srgbClr val="7777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igny </a:t>
            </a:r>
            <a:r>
              <a:rPr lang="en-US" sz="938" dirty="0">
                <a:solidFill>
                  <a:srgbClr val="7777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The counter behaves exactly as specified.</a:t>
            </a:r>
            <a:endParaRPr lang="en-US" sz="938" dirty="0"/>
          </a:p>
        </p:txBody>
      </p:sp>
      <p:sp>
        <p:nvSpPr>
          <p:cNvPr id="23" name="Shape 21"/>
          <p:cNvSpPr/>
          <p:nvPr/>
        </p:nvSpPr>
        <p:spPr>
          <a:xfrm>
            <a:off x="685800" y="7374257"/>
            <a:ext cx="6191250" cy="9525"/>
          </a:xfrm>
          <a:prstGeom prst="rect">
            <a:avLst/>
          </a:prstGeom>
          <a:solidFill>
            <a:srgbClr val="EA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5800" y="8860155"/>
            <a:ext cx="2104013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38" kern="0" spc="179" dirty="0">
                <a:solidFill>
                  <a:srgbClr val="6B6B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 T I F A C T S   P R O D U C E D</a:t>
            </a:r>
            <a:endParaRPr lang="en-US" sz="638" dirty="0"/>
          </a:p>
        </p:txBody>
      </p:sp>
      <p:sp>
        <p:nvSpPr>
          <p:cNvPr id="25" name="Shape 23"/>
          <p:cNvSpPr/>
          <p:nvPr/>
        </p:nvSpPr>
        <p:spPr>
          <a:xfrm>
            <a:off x="685800" y="9103996"/>
            <a:ext cx="3019425" cy="681990"/>
          </a:xfrm>
          <a:prstGeom prst="rect">
            <a:avLst/>
          </a:prstGeom>
          <a:solidFill>
            <a:srgbClr val="FAFAFA"/>
          </a:solidFill>
          <a:ln w="762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4870" y="9264014"/>
            <a:ext cx="292741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111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Mycounter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864870" y="9481187"/>
            <a:ext cx="2927413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7777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Compiled simulation binary (iverilog output)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857625" y="9103996"/>
            <a:ext cx="3019425" cy="681990"/>
          </a:xfrm>
          <a:prstGeom prst="rect">
            <a:avLst/>
          </a:prstGeom>
          <a:solidFill>
            <a:srgbClr val="FAFAFA"/>
          </a:solidFill>
          <a:ln w="762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036695" y="9264014"/>
            <a:ext cx="292741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1111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count.vcd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4036695" y="9481187"/>
            <a:ext cx="2927413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7777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Value Change Dump — waveform data for GTKWave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10292716"/>
            <a:ext cx="7562850" cy="9525"/>
          </a:xfrm>
          <a:prstGeom prst="rect">
            <a:avLst/>
          </a:prstGeom>
          <a:solidFill>
            <a:srgbClr val="EA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85800" y="10433684"/>
            <a:ext cx="1556564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A1A1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© 2026 Ignytion IO · ignytion.io</a:t>
            </a:r>
            <a:endParaRPr lang="en-US" sz="788" dirty="0"/>
          </a:p>
        </p:txBody>
      </p:sp>
      <p:sp>
        <p:nvSpPr>
          <p:cNvPr id="33" name="Text 31"/>
          <p:cNvSpPr/>
          <p:nvPr/>
        </p:nvSpPr>
        <p:spPr>
          <a:xfrm>
            <a:off x="3791426" y="10433684"/>
            <a:ext cx="114573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A1A1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June 2026 · Version 1.0</a:t>
            </a:r>
            <a:endParaRPr lang="en-US" sz="788" dirty="0"/>
          </a:p>
        </p:txBody>
      </p:sp>
      <p:sp>
        <p:nvSpPr>
          <p:cNvPr id="34" name="Text 32"/>
          <p:cNvSpPr/>
          <p:nvPr/>
        </p:nvSpPr>
        <p:spPr>
          <a:xfrm>
            <a:off x="6551533" y="10433684"/>
            <a:ext cx="40171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A1A1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 / 09</a:t>
            </a:r>
            <a:endParaRPr lang="en-US" sz="788" dirty="0"/>
          </a:p>
        </p:txBody>
      </p:sp>
      <p:pic>
        <p:nvPicPr>
          <p:cNvPr id="36" name="Image 0" descr="preencoded.png">
            <a:extLst>
              <a:ext uri="{FF2B5EF4-FFF2-40B4-BE49-F238E27FC236}">
                <a16:creationId xmlns:a16="http://schemas.microsoft.com/office/drawing/2014/main" id="{96C6B682-AAF1-0BAE-459E-FDA96ED37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2176" y="77470"/>
            <a:ext cx="165625" cy="209551"/>
          </a:xfrm>
          <a:prstGeom prst="rect">
            <a:avLst/>
          </a:prstGeom>
        </p:spPr>
      </p:pic>
      <p:sp>
        <p:nvSpPr>
          <p:cNvPr id="38" name="Text 3">
            <a:extLst>
              <a:ext uri="{FF2B5EF4-FFF2-40B4-BE49-F238E27FC236}">
                <a16:creationId xmlns:a16="http://schemas.microsoft.com/office/drawing/2014/main" id="{FAFAEA3A-D74C-D710-A655-27E56A0C37D9}"/>
              </a:ext>
            </a:extLst>
          </p:cNvPr>
          <p:cNvSpPr/>
          <p:nvPr/>
        </p:nvSpPr>
        <p:spPr>
          <a:xfrm>
            <a:off x="6316980" y="130808"/>
            <a:ext cx="594598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C1A17"/>
                </a:solidFill>
                <a:latin typeface="Aptos Display" panose="020B0004020202020204" pitchFamily="34" charset="0"/>
                <a:ea typeface="IBM Plex Sans" pitchFamily="34" charset="-122"/>
                <a:cs typeface="IBM Plex Sans" pitchFamily="34" charset="-120"/>
              </a:rPr>
              <a:t>Ignytion </a:t>
            </a:r>
            <a:r>
              <a:rPr lang="en-US" sz="825" b="1" dirty="0">
                <a:solidFill>
                  <a:srgbClr val="F7941D"/>
                </a:solidFill>
                <a:latin typeface="Aptos Display" panose="020B0004020202020204" pitchFamily="34" charset="0"/>
                <a:ea typeface="IBM Plex Sans" pitchFamily="34" charset="-122"/>
                <a:cs typeface="IBM Plex Sans" pitchFamily="34" charset="-120"/>
              </a:rPr>
              <a:t>io</a:t>
            </a:r>
            <a:endParaRPr lang="en-US" sz="825" dirty="0">
              <a:latin typeface="Aptos Display" panose="020B0004020202020204" pitchFamily="34" charset="0"/>
            </a:endParaRPr>
          </a:p>
        </p:txBody>
      </p:sp>
      <p:sp>
        <p:nvSpPr>
          <p:cNvPr id="53" name="Text 8">
            <a:extLst>
              <a:ext uri="{FF2B5EF4-FFF2-40B4-BE49-F238E27FC236}">
                <a16:creationId xmlns:a16="http://schemas.microsoft.com/office/drawing/2014/main" id="{D48B144B-FD36-BE3E-6307-C09D48E290DB}"/>
              </a:ext>
            </a:extLst>
          </p:cNvPr>
          <p:cNvSpPr/>
          <p:nvPr/>
        </p:nvSpPr>
        <p:spPr>
          <a:xfrm>
            <a:off x="685800" y="3648076"/>
            <a:ext cx="1417321" cy="1905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38" kern="0" spc="179" dirty="0">
                <a:solidFill>
                  <a:srgbClr val="6B6B6F"/>
                </a:solidFill>
                <a:latin typeface="IBM Plex Sans" pitchFamily="34" charset="0"/>
              </a:rPr>
              <a:t>W A V  E F O R M S</a:t>
            </a:r>
            <a:endParaRPr lang="en-US" sz="638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CBBF6E66-5CF3-4141-E5FE-3655CE776F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983310"/>
            <a:ext cx="6191250" cy="1112616"/>
          </a:xfrm>
          <a:prstGeom prst="rect">
            <a:avLst/>
          </a:prstGeom>
          <a:ln>
            <a:solidFill>
              <a:schemeClr val="accent2"/>
            </a:solidFill>
          </a:ln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650DA92E-E30A-B3A2-DD55-8BC16E0551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333500"/>
            <a:ext cx="6197600" cy="10922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FD88DDC7-2413-53AC-B2C7-CCC661D9093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3472"/>
          <a:stretch>
            <a:fillRect/>
          </a:stretch>
        </p:blipFill>
        <p:spPr>
          <a:xfrm>
            <a:off x="685800" y="2425700"/>
            <a:ext cx="6197600" cy="977900"/>
          </a:xfrm>
          <a:prstGeom prst="rect">
            <a:avLst/>
          </a:prstGeom>
          <a:ln>
            <a:solidFill>
              <a:schemeClr val="accent2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9642" y="-1703229"/>
            <a:ext cx="7562850" cy="13591223"/>
          </a:xfrm>
          <a:prstGeom prst="rect">
            <a:avLst/>
          </a:prstGeom>
          <a:ln/>
          <a:effectLst>
            <a:outerShdw blurRad="2667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392430"/>
            <a:ext cx="7562850" cy="15240"/>
          </a:xfrm>
          <a:prstGeom prst="rect">
            <a:avLst/>
          </a:prstGeom>
          <a:solidFill>
            <a:srgbClr val="EF9529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42875"/>
            <a:ext cx="3275267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38" kern="0" spc="159" dirty="0">
                <a:solidFill>
                  <a:srgbClr val="A1A1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ASIC DESIGN &amp; VERIFICATION · TECHNICAL LAB NOTE</a:t>
            </a:r>
            <a:endParaRPr lang="en-US" sz="638" dirty="0"/>
          </a:p>
        </p:txBody>
      </p:sp>
      <p:sp>
        <p:nvSpPr>
          <p:cNvPr id="6" name="Text 4"/>
          <p:cNvSpPr/>
          <p:nvPr/>
        </p:nvSpPr>
        <p:spPr>
          <a:xfrm>
            <a:off x="685800" y="648970"/>
            <a:ext cx="108299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75" kern="0" spc="236" dirty="0">
                <a:solidFill>
                  <a:srgbClr val="EF952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 E C T I O N 5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685800" y="862329"/>
            <a:ext cx="681037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1111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Experiment 2 — Logic Synthesis into a Gate-Level Netlist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85800" y="1281432"/>
            <a:ext cx="1046440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38" kern="0" spc="179" dirty="0">
                <a:solidFill>
                  <a:srgbClr val="6B6B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B J E C T I V E</a:t>
            </a:r>
            <a:endParaRPr lang="en-US" sz="638" dirty="0"/>
          </a:p>
        </p:txBody>
      </p:sp>
      <p:sp>
        <p:nvSpPr>
          <p:cNvPr id="9" name="Text 7"/>
          <p:cNvSpPr/>
          <p:nvPr/>
        </p:nvSpPr>
        <p:spPr>
          <a:xfrm>
            <a:off x="685800" y="1435103"/>
            <a:ext cx="6376988" cy="501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013" dirty="0">
                <a:solidFill>
                  <a:srgbClr val="4444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Synthesize the RTL design </a:t>
            </a:r>
            <a:r>
              <a:rPr lang="en-US" sz="900" dirty="0">
                <a:solidFill>
                  <a:srgbClr val="4444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top.v </a:t>
            </a:r>
            <a:r>
              <a:rPr lang="en-US" sz="1013" dirty="0">
                <a:solidFill>
                  <a:srgbClr val="4444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into a gate-level netlist mapped to the Nangate standard-cell library, using Yosys.</a:t>
            </a:r>
            <a:endParaRPr lang="en-US" sz="1013" dirty="0"/>
          </a:p>
        </p:txBody>
      </p:sp>
      <p:sp>
        <p:nvSpPr>
          <p:cNvPr id="10" name="Text 8"/>
          <p:cNvSpPr/>
          <p:nvPr/>
        </p:nvSpPr>
        <p:spPr>
          <a:xfrm>
            <a:off x="685800" y="1898014"/>
            <a:ext cx="2756368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38" kern="0" spc="179" dirty="0">
                <a:solidFill>
                  <a:srgbClr val="6B6B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 E S I G N T O S Y N T H E S I Z E — TOP.V</a:t>
            </a:r>
            <a:endParaRPr lang="en-US" sz="638" dirty="0"/>
          </a:p>
        </p:txBody>
      </p:sp>
      <p:sp>
        <p:nvSpPr>
          <p:cNvPr id="11" name="Shape 9"/>
          <p:cNvSpPr/>
          <p:nvPr/>
        </p:nvSpPr>
        <p:spPr>
          <a:xfrm>
            <a:off x="685800" y="2101215"/>
            <a:ext cx="6191250" cy="2155508"/>
          </a:xfrm>
          <a:prstGeom prst="roundRect">
            <a:avLst>
              <a:gd name="adj" fmla="val 1326"/>
            </a:avLst>
          </a:prstGeom>
          <a:solidFill>
            <a:srgbClr val="0B0B0C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291715"/>
            <a:ext cx="5906072" cy="18126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863" dirty="0">
                <a:solidFill>
                  <a:srgbClr val="EF952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 </a:t>
            </a:r>
            <a:r>
              <a:rPr lang="en-US" sz="863" dirty="0">
                <a:solidFill>
                  <a:srgbClr val="EDED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top(a, b, clk, select, out);</a:t>
            </a:r>
            <a:endParaRPr lang="en-US" sz="863" dirty="0"/>
          </a:p>
          <a:p>
            <a:pPr marL="0" indent="0" algn="l">
              <a:lnSpc>
                <a:spcPct val="180000"/>
              </a:lnSpc>
              <a:buNone/>
            </a:pPr>
            <a:r>
              <a:rPr lang="en-US" sz="863" dirty="0">
                <a:solidFill>
                  <a:srgbClr val="A1A1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input </a:t>
            </a:r>
            <a:r>
              <a:rPr lang="en-US" sz="863" dirty="0">
                <a:solidFill>
                  <a:srgbClr val="EDED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a, b, clk, select;</a:t>
            </a:r>
            <a:endParaRPr lang="en-US" sz="863" dirty="0"/>
          </a:p>
          <a:p>
            <a:pPr marL="0" indent="0" algn="l">
              <a:lnSpc>
                <a:spcPct val="180000"/>
              </a:lnSpc>
              <a:buNone/>
            </a:pPr>
            <a:r>
              <a:rPr lang="en-US" sz="863" dirty="0">
                <a:solidFill>
                  <a:srgbClr val="A1A1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output </a:t>
            </a:r>
            <a:r>
              <a:rPr lang="en-US" sz="863" dirty="0">
                <a:solidFill>
                  <a:srgbClr val="EDED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out;</a:t>
            </a:r>
            <a:endParaRPr lang="en-US" sz="863" dirty="0"/>
          </a:p>
          <a:p>
            <a:pPr marL="0" indent="0" algn="l">
              <a:lnSpc>
                <a:spcPct val="180000"/>
              </a:lnSpc>
              <a:buNone/>
            </a:pPr>
            <a:r>
              <a:rPr lang="en-US" sz="863" dirty="0">
                <a:solidFill>
                  <a:srgbClr val="A1A1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reg </a:t>
            </a:r>
            <a:r>
              <a:rPr lang="en-US" sz="863" dirty="0">
                <a:solidFill>
                  <a:srgbClr val="EDED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out;   </a:t>
            </a:r>
            <a:endParaRPr lang="en-US" sz="863" dirty="0"/>
          </a:p>
          <a:p>
            <a:pPr marL="0" indent="0" algn="l">
              <a:lnSpc>
                <a:spcPct val="180000"/>
              </a:lnSpc>
              <a:buNone/>
            </a:pPr>
            <a:r>
              <a:rPr lang="en-US" sz="863" dirty="0">
                <a:solidFill>
                  <a:srgbClr val="A1A1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wire </a:t>
            </a:r>
            <a:r>
              <a:rPr lang="en-US" sz="863" dirty="0">
                <a:solidFill>
                  <a:srgbClr val="EDED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y;</a:t>
            </a:r>
            <a:endParaRPr lang="en-US" sz="863" dirty="0"/>
          </a:p>
          <a:p>
            <a:pPr marL="0" indent="0" algn="l">
              <a:lnSpc>
                <a:spcPct val="180000"/>
              </a:lnSpc>
              <a:buNone/>
            </a:pPr>
            <a:r>
              <a:rPr lang="en-US" sz="863" dirty="0">
                <a:solidFill>
                  <a:srgbClr val="EDED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</a:t>
            </a:r>
            <a:endParaRPr lang="en-US" sz="863" dirty="0"/>
          </a:p>
          <a:p>
            <a:pPr marL="0" indent="0" algn="l">
              <a:lnSpc>
                <a:spcPct val="180000"/>
              </a:lnSpc>
              <a:buNone/>
            </a:pPr>
            <a:r>
              <a:rPr lang="en-US" sz="863" dirty="0">
                <a:solidFill>
                  <a:srgbClr val="A1A1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assign</a:t>
            </a:r>
            <a:r>
              <a:rPr lang="en-US" sz="863" dirty="0">
                <a:solidFill>
                  <a:srgbClr val="EDED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y = (select) ? b : a;   </a:t>
            </a:r>
            <a:r>
              <a:rPr lang="en-US" sz="863" dirty="0">
                <a:solidFill>
                  <a:srgbClr val="6B6B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2:1 multiplexer (combinational) </a:t>
            </a:r>
            <a:r>
              <a:rPr lang="en-US" sz="863" dirty="0">
                <a:solidFill>
                  <a:srgbClr val="EDED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</a:p>
          <a:p>
            <a:pPr marL="0" indent="0" algn="l">
              <a:lnSpc>
                <a:spcPct val="180000"/>
              </a:lnSpc>
              <a:buNone/>
            </a:pPr>
            <a:r>
              <a:rPr lang="en-US" sz="863" dirty="0">
                <a:solidFill>
                  <a:srgbClr val="A1A1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always</a:t>
            </a:r>
            <a:r>
              <a:rPr lang="en-US" sz="863" dirty="0">
                <a:solidFill>
                  <a:srgbClr val="EDED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@(</a:t>
            </a:r>
            <a:r>
              <a:rPr lang="en-US" sz="863" dirty="0">
                <a:solidFill>
                  <a:srgbClr val="A1A1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posedge </a:t>
            </a:r>
            <a:r>
              <a:rPr lang="en-US" sz="863" dirty="0">
                <a:solidFill>
                  <a:srgbClr val="EDED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clk)</a:t>
            </a:r>
            <a:endParaRPr lang="en-US" sz="863" dirty="0"/>
          </a:p>
          <a:p>
            <a:pPr>
              <a:lnSpc>
                <a:spcPct val="180000"/>
              </a:lnSpc>
            </a:pPr>
            <a:r>
              <a:rPr lang="en-US" sz="863" dirty="0">
                <a:solidFill>
                  <a:srgbClr val="EDED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out &lt;= y; </a:t>
            </a:r>
            <a:r>
              <a:rPr lang="en-US" sz="863" dirty="0">
                <a:solidFill>
                  <a:srgbClr val="6B6B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register → maps to a D flip-flop </a:t>
            </a:r>
            <a:r>
              <a:rPr lang="en-US" sz="863" dirty="0">
                <a:solidFill>
                  <a:srgbClr val="EDED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    </a:t>
            </a:r>
            <a:endParaRPr lang="en-US" sz="863" dirty="0"/>
          </a:p>
          <a:p>
            <a:pPr marL="0" indent="0" algn="l">
              <a:lnSpc>
                <a:spcPct val="180000"/>
              </a:lnSpc>
              <a:buNone/>
            </a:pPr>
            <a:r>
              <a:rPr lang="en-US" sz="863" dirty="0" err="1">
                <a:solidFill>
                  <a:srgbClr val="EF952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endmodule</a:t>
            </a:r>
            <a:endParaRPr lang="en-US" sz="863" dirty="0"/>
          </a:p>
        </p:txBody>
      </p:sp>
      <p:sp>
        <p:nvSpPr>
          <p:cNvPr id="13" name="Text 11"/>
          <p:cNvSpPr/>
          <p:nvPr/>
        </p:nvSpPr>
        <p:spPr>
          <a:xfrm>
            <a:off x="685800" y="4468815"/>
            <a:ext cx="6376988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900" i="1" dirty="0">
                <a:solidFill>
                  <a:srgbClr val="7777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Synthesis converts this behavioural RTL into real cells: the </a:t>
            </a:r>
            <a:r>
              <a:rPr lang="en-US" sz="825" dirty="0">
                <a:solidFill>
                  <a:srgbClr val="7777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assign </a:t>
            </a:r>
            <a:r>
              <a:rPr lang="en-US" sz="900" i="1" dirty="0">
                <a:solidFill>
                  <a:srgbClr val="7777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becomes gate logic; the </a:t>
            </a:r>
            <a:r>
              <a:rPr lang="en-US" sz="825" dirty="0">
                <a:solidFill>
                  <a:srgbClr val="7777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always @(posedge clk) </a:t>
            </a:r>
            <a:r>
              <a:rPr lang="en-US" sz="900" i="1" dirty="0">
                <a:solidFill>
                  <a:srgbClr val="7777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becomes a D flip-flop.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5019993"/>
            <a:ext cx="3427059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38" kern="0" spc="179" dirty="0">
                <a:solidFill>
                  <a:srgbClr val="6B6B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 Y N T H E S I S   </a:t>
            </a:r>
            <a:r>
              <a:rPr lang="en-US" sz="638" kern="0" spc="179" dirty="0" err="1">
                <a:solidFill>
                  <a:srgbClr val="6B6B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</a:t>
            </a:r>
            <a:r>
              <a:rPr lang="en-US" sz="638" kern="0" spc="179" dirty="0">
                <a:solidFill>
                  <a:srgbClr val="6B6B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 R I P T — YOSYS_COMMANDS.TCL</a:t>
            </a:r>
            <a:endParaRPr lang="en-US" sz="638" dirty="0"/>
          </a:p>
        </p:txBody>
      </p:sp>
      <p:sp>
        <p:nvSpPr>
          <p:cNvPr id="15" name="Shape 13"/>
          <p:cNvSpPr/>
          <p:nvPr/>
        </p:nvSpPr>
        <p:spPr>
          <a:xfrm>
            <a:off x="685800" y="5304474"/>
            <a:ext cx="6191250" cy="2979420"/>
          </a:xfrm>
          <a:prstGeom prst="rect">
            <a:avLst/>
          </a:prstGeom>
          <a:ln w="7620">
            <a:solidFill>
              <a:srgbClr val="DCDC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3420" y="5312093"/>
            <a:ext cx="6176010" cy="3048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7" name="Text 15"/>
          <p:cNvSpPr/>
          <p:nvPr/>
        </p:nvSpPr>
        <p:spPr>
          <a:xfrm>
            <a:off x="864870" y="5407343"/>
            <a:ext cx="4191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13" kern="0" spc="86" dirty="0">
                <a:solidFill>
                  <a:srgbClr val="A1A1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STEP</a:t>
            </a:r>
            <a:endParaRPr lang="en-US" sz="713" dirty="0"/>
          </a:p>
        </p:txBody>
      </p:sp>
      <p:sp>
        <p:nvSpPr>
          <p:cNvPr id="18" name="Text 16"/>
          <p:cNvSpPr/>
          <p:nvPr/>
        </p:nvSpPr>
        <p:spPr>
          <a:xfrm>
            <a:off x="1341120" y="5407343"/>
            <a:ext cx="176022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13" kern="0" spc="86" dirty="0">
                <a:solidFill>
                  <a:srgbClr val="A1A1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COMMAND</a:t>
            </a:r>
            <a:endParaRPr lang="en-US" sz="713" dirty="0"/>
          </a:p>
        </p:txBody>
      </p:sp>
      <p:sp>
        <p:nvSpPr>
          <p:cNvPr id="19" name="Text 17"/>
          <p:cNvSpPr/>
          <p:nvPr/>
        </p:nvSpPr>
        <p:spPr>
          <a:xfrm>
            <a:off x="3074670" y="5407343"/>
            <a:ext cx="398564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13" kern="0" spc="86" dirty="0">
                <a:solidFill>
                  <a:srgbClr val="A1A1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ACTION</a:t>
            </a:r>
            <a:endParaRPr lang="en-US" sz="713" dirty="0"/>
          </a:p>
        </p:txBody>
      </p:sp>
      <p:sp>
        <p:nvSpPr>
          <p:cNvPr id="20" name="Shape 18"/>
          <p:cNvSpPr/>
          <p:nvPr/>
        </p:nvSpPr>
        <p:spPr>
          <a:xfrm>
            <a:off x="693420" y="5616893"/>
            <a:ext cx="6176010" cy="3048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Shape 19"/>
          <p:cNvSpPr/>
          <p:nvPr/>
        </p:nvSpPr>
        <p:spPr>
          <a:xfrm>
            <a:off x="693420" y="5914072"/>
            <a:ext cx="6176010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22" name="Text 20"/>
          <p:cNvSpPr/>
          <p:nvPr/>
        </p:nvSpPr>
        <p:spPr>
          <a:xfrm>
            <a:off x="864870" y="5693093"/>
            <a:ext cx="41910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7777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341120" y="5693093"/>
            <a:ext cx="176022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1111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read_verilog top.v</a:t>
            </a:r>
            <a:endParaRPr lang="en-US" sz="788" dirty="0"/>
          </a:p>
        </p:txBody>
      </p:sp>
      <p:sp>
        <p:nvSpPr>
          <p:cNvPr id="24" name="Text 22"/>
          <p:cNvSpPr/>
          <p:nvPr/>
        </p:nvSpPr>
        <p:spPr>
          <a:xfrm>
            <a:off x="3074670" y="5693093"/>
            <a:ext cx="3985641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444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Parse the RTL source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93420" y="6218872"/>
            <a:ext cx="6176010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26" name="Text 24"/>
          <p:cNvSpPr/>
          <p:nvPr/>
        </p:nvSpPr>
        <p:spPr>
          <a:xfrm>
            <a:off x="864870" y="5997893"/>
            <a:ext cx="41910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7777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341120" y="5997893"/>
            <a:ext cx="176022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1111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hierarchy -check -top top</a:t>
            </a:r>
            <a:endParaRPr lang="en-US" sz="788" dirty="0"/>
          </a:p>
        </p:txBody>
      </p:sp>
      <p:sp>
        <p:nvSpPr>
          <p:cNvPr id="28" name="Text 26"/>
          <p:cNvSpPr/>
          <p:nvPr/>
        </p:nvSpPr>
        <p:spPr>
          <a:xfrm>
            <a:off x="3074670" y="5997893"/>
            <a:ext cx="3985641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444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Elaborate hierarchy, set the top module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93420" y="6226493"/>
            <a:ext cx="6176010" cy="3048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0" name="Shape 28"/>
          <p:cNvSpPr/>
          <p:nvPr/>
        </p:nvSpPr>
        <p:spPr>
          <a:xfrm>
            <a:off x="693420" y="6523672"/>
            <a:ext cx="6176010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31" name="Text 29"/>
          <p:cNvSpPr/>
          <p:nvPr/>
        </p:nvSpPr>
        <p:spPr>
          <a:xfrm>
            <a:off x="864870" y="6302693"/>
            <a:ext cx="41910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7777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341120" y="6302693"/>
            <a:ext cx="176022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1111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proc</a:t>
            </a:r>
            <a:endParaRPr lang="en-US" sz="788" dirty="0"/>
          </a:p>
        </p:txBody>
      </p:sp>
      <p:sp>
        <p:nvSpPr>
          <p:cNvPr id="33" name="Text 31"/>
          <p:cNvSpPr/>
          <p:nvPr/>
        </p:nvSpPr>
        <p:spPr>
          <a:xfrm>
            <a:off x="3074670" y="6302693"/>
            <a:ext cx="3985641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444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Convert always/if/case processes into muxes + registers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93420" y="6828472"/>
            <a:ext cx="6176010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35" name="Text 33"/>
          <p:cNvSpPr/>
          <p:nvPr/>
        </p:nvSpPr>
        <p:spPr>
          <a:xfrm>
            <a:off x="864870" y="6607493"/>
            <a:ext cx="41910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7777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341120" y="6607493"/>
            <a:ext cx="176022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1111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techmap</a:t>
            </a:r>
            <a:endParaRPr lang="en-US" sz="788" dirty="0"/>
          </a:p>
        </p:txBody>
      </p:sp>
      <p:sp>
        <p:nvSpPr>
          <p:cNvPr id="37" name="Text 35"/>
          <p:cNvSpPr/>
          <p:nvPr/>
        </p:nvSpPr>
        <p:spPr>
          <a:xfrm>
            <a:off x="3074670" y="6607493"/>
            <a:ext cx="3985641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444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Map to Yosys's internal generic gate library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93420" y="6836093"/>
            <a:ext cx="6176010" cy="4191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9" name="Shape 37"/>
          <p:cNvSpPr/>
          <p:nvPr/>
        </p:nvSpPr>
        <p:spPr>
          <a:xfrm>
            <a:off x="693420" y="7247572"/>
            <a:ext cx="6176010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40" name="Text 38"/>
          <p:cNvSpPr/>
          <p:nvPr/>
        </p:nvSpPr>
        <p:spPr>
          <a:xfrm>
            <a:off x="864870" y="6912293"/>
            <a:ext cx="4191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7777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341120" y="6912293"/>
            <a:ext cx="16764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1111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dfflibmap -liberty …Nangate….lib</a:t>
            </a:r>
            <a:endParaRPr lang="en-US" sz="788" dirty="0"/>
          </a:p>
        </p:txBody>
      </p:sp>
      <p:sp>
        <p:nvSpPr>
          <p:cNvPr id="42" name="Text 40"/>
          <p:cNvSpPr/>
          <p:nvPr/>
        </p:nvSpPr>
        <p:spPr>
          <a:xfrm>
            <a:off x="3074670" y="6912293"/>
            <a:ext cx="3732009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444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Map flip-flops to Nangate library cells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93420" y="7552372"/>
            <a:ext cx="6176010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44" name="Text 42"/>
          <p:cNvSpPr/>
          <p:nvPr/>
        </p:nvSpPr>
        <p:spPr>
          <a:xfrm>
            <a:off x="864870" y="7331392"/>
            <a:ext cx="41910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7777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341120" y="7331392"/>
            <a:ext cx="176022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1111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abc -liberty …Nangate….lib</a:t>
            </a:r>
            <a:endParaRPr lang="en-US" sz="788" dirty="0"/>
          </a:p>
        </p:txBody>
      </p:sp>
      <p:sp>
        <p:nvSpPr>
          <p:cNvPr id="46" name="Text 44"/>
          <p:cNvSpPr/>
          <p:nvPr/>
        </p:nvSpPr>
        <p:spPr>
          <a:xfrm>
            <a:off x="3074670" y="7331392"/>
            <a:ext cx="3985641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444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Optimize + map combinational logic to Nangate cells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93420" y="7559992"/>
            <a:ext cx="6176010" cy="3048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8" name="Shape 46"/>
          <p:cNvSpPr/>
          <p:nvPr/>
        </p:nvSpPr>
        <p:spPr>
          <a:xfrm>
            <a:off x="693420" y="7857172"/>
            <a:ext cx="6176010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49" name="Text 47"/>
          <p:cNvSpPr/>
          <p:nvPr/>
        </p:nvSpPr>
        <p:spPr>
          <a:xfrm>
            <a:off x="864870" y="7636193"/>
            <a:ext cx="41910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7777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341120" y="7636193"/>
            <a:ext cx="176022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1111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clean</a:t>
            </a:r>
            <a:endParaRPr lang="en-US" sz="788" dirty="0"/>
          </a:p>
        </p:txBody>
      </p:sp>
      <p:sp>
        <p:nvSpPr>
          <p:cNvPr id="51" name="Text 49"/>
          <p:cNvSpPr/>
          <p:nvPr/>
        </p:nvSpPr>
        <p:spPr>
          <a:xfrm>
            <a:off x="3074670" y="7636193"/>
            <a:ext cx="3985641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444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Remove unused cells and wires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64870" y="7940993"/>
            <a:ext cx="4191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7777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341120" y="7940993"/>
            <a:ext cx="16764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1111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write_verilog -noattr synth_example.v</a:t>
            </a:r>
            <a:endParaRPr lang="en-US" sz="788" dirty="0"/>
          </a:p>
        </p:txBody>
      </p:sp>
      <p:sp>
        <p:nvSpPr>
          <p:cNvPr id="54" name="Text 52"/>
          <p:cNvSpPr/>
          <p:nvPr/>
        </p:nvSpPr>
        <p:spPr>
          <a:xfrm>
            <a:off x="3074670" y="7940993"/>
            <a:ext cx="3732009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444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Emit the gate-level netlist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85800" y="8402003"/>
            <a:ext cx="1086564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38" kern="0" spc="179" dirty="0">
                <a:solidFill>
                  <a:srgbClr val="6B6B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 R O C E D U R E</a:t>
            </a:r>
            <a:endParaRPr lang="en-US" sz="638" dirty="0"/>
          </a:p>
        </p:txBody>
      </p:sp>
      <p:sp>
        <p:nvSpPr>
          <p:cNvPr id="56" name="Shape 54"/>
          <p:cNvSpPr/>
          <p:nvPr/>
        </p:nvSpPr>
        <p:spPr>
          <a:xfrm>
            <a:off x="685800" y="8737283"/>
            <a:ext cx="6191250" cy="699135"/>
          </a:xfrm>
          <a:prstGeom prst="roundRect">
            <a:avLst>
              <a:gd name="adj" fmla="val 4087"/>
            </a:avLst>
          </a:prstGeom>
          <a:solidFill>
            <a:srgbClr val="0B0B0C"/>
          </a:solidFill>
          <a:ln/>
        </p:spPr>
      </p:sp>
      <p:sp>
        <p:nvSpPr>
          <p:cNvPr id="57" name="Text 55"/>
          <p:cNvSpPr/>
          <p:nvPr/>
        </p:nvSpPr>
        <p:spPr>
          <a:xfrm>
            <a:off x="914400" y="8889683"/>
            <a:ext cx="5906072" cy="43243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863" dirty="0">
                <a:solidFill>
                  <a:srgbClr val="6B6B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synthesize → synth_example.v </a:t>
            </a:r>
            <a:r>
              <a:rPr lang="en-US" sz="863" dirty="0">
                <a:solidFill>
                  <a:srgbClr val="EDED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igny run yosys -s yosys_commands.tcl</a:t>
            </a:r>
            <a:endParaRPr lang="en-US" sz="863" dirty="0"/>
          </a:p>
        </p:txBody>
      </p:sp>
      <p:sp>
        <p:nvSpPr>
          <p:cNvPr id="67" name="Shape 65"/>
          <p:cNvSpPr/>
          <p:nvPr/>
        </p:nvSpPr>
        <p:spPr>
          <a:xfrm>
            <a:off x="0" y="10327323"/>
            <a:ext cx="7562850" cy="9525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68" name="Text 66"/>
          <p:cNvSpPr/>
          <p:nvPr/>
        </p:nvSpPr>
        <p:spPr>
          <a:xfrm>
            <a:off x="685800" y="10468291"/>
            <a:ext cx="1556564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A1A1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© 2026 Ignytion IO · ignytion.io</a:t>
            </a:r>
            <a:endParaRPr lang="en-US" sz="788" dirty="0"/>
          </a:p>
        </p:txBody>
      </p:sp>
      <p:sp>
        <p:nvSpPr>
          <p:cNvPr id="69" name="Text 67"/>
          <p:cNvSpPr/>
          <p:nvPr/>
        </p:nvSpPr>
        <p:spPr>
          <a:xfrm>
            <a:off x="3791426" y="10468291"/>
            <a:ext cx="114573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A1A1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June 2026 · Version 1.0</a:t>
            </a:r>
            <a:endParaRPr lang="en-US" sz="788" dirty="0"/>
          </a:p>
        </p:txBody>
      </p:sp>
      <p:sp>
        <p:nvSpPr>
          <p:cNvPr id="70" name="Text 68"/>
          <p:cNvSpPr/>
          <p:nvPr/>
        </p:nvSpPr>
        <p:spPr>
          <a:xfrm>
            <a:off x="6551533" y="10468291"/>
            <a:ext cx="40171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A1A1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07 / 09</a:t>
            </a:r>
            <a:endParaRPr lang="en-US" sz="788" dirty="0"/>
          </a:p>
        </p:txBody>
      </p:sp>
      <p:pic>
        <p:nvPicPr>
          <p:cNvPr id="72" name="Image 0" descr="preencoded.png">
            <a:extLst>
              <a:ext uri="{FF2B5EF4-FFF2-40B4-BE49-F238E27FC236}">
                <a16:creationId xmlns:a16="http://schemas.microsoft.com/office/drawing/2014/main" id="{6F67A69E-D7D1-6382-383B-AD76E6F26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2176" y="77470"/>
            <a:ext cx="165625" cy="209551"/>
          </a:xfrm>
          <a:prstGeom prst="rect">
            <a:avLst/>
          </a:prstGeom>
        </p:spPr>
      </p:pic>
      <p:sp>
        <p:nvSpPr>
          <p:cNvPr id="74" name="Text 3">
            <a:extLst>
              <a:ext uri="{FF2B5EF4-FFF2-40B4-BE49-F238E27FC236}">
                <a16:creationId xmlns:a16="http://schemas.microsoft.com/office/drawing/2014/main" id="{6794FDB9-B7B4-4AD1-0604-83B58A0216E7}"/>
              </a:ext>
            </a:extLst>
          </p:cNvPr>
          <p:cNvSpPr/>
          <p:nvPr/>
        </p:nvSpPr>
        <p:spPr>
          <a:xfrm>
            <a:off x="6316980" y="130808"/>
            <a:ext cx="594598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C1A17"/>
                </a:solidFill>
                <a:latin typeface="Aptos Display" panose="020B0004020202020204" pitchFamily="34" charset="0"/>
                <a:ea typeface="IBM Plex Sans" pitchFamily="34" charset="-122"/>
                <a:cs typeface="IBM Plex Sans" pitchFamily="34" charset="-120"/>
              </a:rPr>
              <a:t>Ignytion </a:t>
            </a:r>
            <a:r>
              <a:rPr lang="en-US" sz="825" b="1" dirty="0">
                <a:solidFill>
                  <a:srgbClr val="F7941D"/>
                </a:solidFill>
                <a:latin typeface="Aptos Display" panose="020B0004020202020204" pitchFamily="34" charset="0"/>
                <a:ea typeface="IBM Plex Sans" pitchFamily="34" charset="-122"/>
                <a:cs typeface="IBM Plex Sans" pitchFamily="34" charset="-120"/>
              </a:rPr>
              <a:t>io</a:t>
            </a:r>
            <a:endParaRPr lang="en-US" sz="825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549978DC-1C6A-42BA-7165-0A1CCEF3AFBC}"/>
              </a:ext>
            </a:extLst>
          </p:cNvPr>
          <p:cNvSpPr/>
          <p:nvPr/>
        </p:nvSpPr>
        <p:spPr>
          <a:xfrm>
            <a:off x="0" y="392430"/>
            <a:ext cx="7562850" cy="15240"/>
          </a:xfrm>
          <a:prstGeom prst="rect">
            <a:avLst/>
          </a:prstGeom>
          <a:solidFill>
            <a:srgbClr val="EF9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AC3DE23-9E72-A280-690D-372347BFB18B}"/>
              </a:ext>
            </a:extLst>
          </p:cNvPr>
          <p:cNvSpPr/>
          <p:nvPr/>
        </p:nvSpPr>
        <p:spPr>
          <a:xfrm>
            <a:off x="685800" y="142875"/>
            <a:ext cx="3275267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38" kern="0" spc="159" dirty="0">
                <a:solidFill>
                  <a:srgbClr val="A1A1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ASIC DESIGN &amp; VERIFICATION · TECHNICAL LAB NOTE</a:t>
            </a:r>
            <a:endParaRPr lang="en-US" sz="638" dirty="0"/>
          </a:p>
        </p:txBody>
      </p:sp>
      <p:sp>
        <p:nvSpPr>
          <p:cNvPr id="9" name="Shape 29">
            <a:extLst>
              <a:ext uri="{FF2B5EF4-FFF2-40B4-BE49-F238E27FC236}">
                <a16:creationId xmlns:a16="http://schemas.microsoft.com/office/drawing/2014/main" id="{1F4DB469-5127-1983-89DE-D9CCA923076A}"/>
              </a:ext>
            </a:extLst>
          </p:cNvPr>
          <p:cNvSpPr/>
          <p:nvPr/>
        </p:nvSpPr>
        <p:spPr>
          <a:xfrm>
            <a:off x="0" y="10292711"/>
            <a:ext cx="7562850" cy="9525"/>
          </a:xfrm>
          <a:prstGeom prst="rect">
            <a:avLst/>
          </a:prstGeom>
          <a:solidFill>
            <a:srgbClr val="EA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30">
            <a:extLst>
              <a:ext uri="{FF2B5EF4-FFF2-40B4-BE49-F238E27FC236}">
                <a16:creationId xmlns:a16="http://schemas.microsoft.com/office/drawing/2014/main" id="{61190AE5-3815-28C8-C65E-7338C40022A5}"/>
              </a:ext>
            </a:extLst>
          </p:cNvPr>
          <p:cNvSpPr/>
          <p:nvPr/>
        </p:nvSpPr>
        <p:spPr>
          <a:xfrm>
            <a:off x="685800" y="10433679"/>
            <a:ext cx="1556564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A1A1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© 2026 Ignytion IO · ignytion.io</a:t>
            </a:r>
            <a:endParaRPr lang="en-US" sz="788" dirty="0"/>
          </a:p>
        </p:txBody>
      </p:sp>
      <p:sp>
        <p:nvSpPr>
          <p:cNvPr id="13" name="Text 31">
            <a:extLst>
              <a:ext uri="{FF2B5EF4-FFF2-40B4-BE49-F238E27FC236}">
                <a16:creationId xmlns:a16="http://schemas.microsoft.com/office/drawing/2014/main" id="{8350848E-9BCF-2104-A925-15C32A556651}"/>
              </a:ext>
            </a:extLst>
          </p:cNvPr>
          <p:cNvSpPr/>
          <p:nvPr/>
        </p:nvSpPr>
        <p:spPr>
          <a:xfrm>
            <a:off x="3791426" y="10433679"/>
            <a:ext cx="114573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A1A1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June 2026 · Version 1.0</a:t>
            </a:r>
            <a:endParaRPr lang="en-US" sz="788" dirty="0"/>
          </a:p>
        </p:txBody>
      </p:sp>
      <p:sp>
        <p:nvSpPr>
          <p:cNvPr id="15" name="Text 32">
            <a:extLst>
              <a:ext uri="{FF2B5EF4-FFF2-40B4-BE49-F238E27FC236}">
                <a16:creationId xmlns:a16="http://schemas.microsoft.com/office/drawing/2014/main" id="{67CA710B-2005-3212-87FD-1B8CFFE5748F}"/>
              </a:ext>
            </a:extLst>
          </p:cNvPr>
          <p:cNvSpPr/>
          <p:nvPr/>
        </p:nvSpPr>
        <p:spPr>
          <a:xfrm>
            <a:off x="6551533" y="10433679"/>
            <a:ext cx="40171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A1A1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08/ 09</a:t>
            </a:r>
            <a:endParaRPr lang="en-US" sz="788" dirty="0"/>
          </a:p>
        </p:txBody>
      </p:sp>
      <p:sp>
        <p:nvSpPr>
          <p:cNvPr id="17" name="Text 56">
            <a:extLst>
              <a:ext uri="{FF2B5EF4-FFF2-40B4-BE49-F238E27FC236}">
                <a16:creationId xmlns:a16="http://schemas.microsoft.com/office/drawing/2014/main" id="{A6EFF775-C9CA-2BBD-87AE-4BED8B0A754D}"/>
              </a:ext>
            </a:extLst>
          </p:cNvPr>
          <p:cNvSpPr/>
          <p:nvPr/>
        </p:nvSpPr>
        <p:spPr>
          <a:xfrm>
            <a:off x="685800" y="3789490"/>
            <a:ext cx="827127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38" kern="0" spc="179" dirty="0">
                <a:solidFill>
                  <a:srgbClr val="6B6B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 E S U L T S</a:t>
            </a:r>
            <a:endParaRPr lang="en-US" sz="638" dirty="0"/>
          </a:p>
        </p:txBody>
      </p:sp>
      <p:sp>
        <p:nvSpPr>
          <p:cNvPr id="19" name="Text 57">
            <a:extLst>
              <a:ext uri="{FF2B5EF4-FFF2-40B4-BE49-F238E27FC236}">
                <a16:creationId xmlns:a16="http://schemas.microsoft.com/office/drawing/2014/main" id="{A7B8B264-B100-7EAA-F298-51D863827695}"/>
              </a:ext>
            </a:extLst>
          </p:cNvPr>
          <p:cNvSpPr/>
          <p:nvPr/>
        </p:nvSpPr>
        <p:spPr>
          <a:xfrm>
            <a:off x="685800" y="4042855"/>
            <a:ext cx="180261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F952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</a:t>
            </a:r>
            <a:endParaRPr lang="en-US" sz="1050" dirty="0"/>
          </a:p>
        </p:txBody>
      </p:sp>
      <p:sp>
        <p:nvSpPr>
          <p:cNvPr id="21" name="Text 58">
            <a:extLst>
              <a:ext uri="{FF2B5EF4-FFF2-40B4-BE49-F238E27FC236}">
                <a16:creationId xmlns:a16="http://schemas.microsoft.com/office/drawing/2014/main" id="{3644BA5B-DD48-D811-765C-37715038B9D2}"/>
              </a:ext>
            </a:extLst>
          </p:cNvPr>
          <p:cNvSpPr/>
          <p:nvPr/>
        </p:nvSpPr>
        <p:spPr>
          <a:xfrm>
            <a:off x="904161" y="4033330"/>
            <a:ext cx="6152076" cy="501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013" dirty="0" err="1">
                <a:solidFill>
                  <a:srgbClr val="4444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Yosys</a:t>
            </a:r>
            <a:r>
              <a:rPr lang="en-US" sz="1013" dirty="0">
                <a:solidFill>
                  <a:srgbClr val="4444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prints per-step statistics; after </a:t>
            </a:r>
            <a:r>
              <a:rPr lang="en-US" sz="900" dirty="0">
                <a:solidFill>
                  <a:srgbClr val="4444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dfflibmap</a:t>
            </a:r>
            <a:r>
              <a:rPr lang="en-US" sz="1013" dirty="0">
                <a:solidFill>
                  <a:srgbClr val="4444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/</a:t>
            </a:r>
            <a:r>
              <a:rPr lang="en-US" sz="900" dirty="0">
                <a:solidFill>
                  <a:srgbClr val="4444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abc </a:t>
            </a:r>
            <a:r>
              <a:rPr lang="en-US" sz="1013" dirty="0">
                <a:solidFill>
                  <a:srgbClr val="4444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reports the cell count and area of the mapped design.</a:t>
            </a:r>
            <a:endParaRPr lang="en-US" sz="1013" dirty="0"/>
          </a:p>
        </p:txBody>
      </p:sp>
      <p:sp>
        <p:nvSpPr>
          <p:cNvPr id="23" name="Text 59">
            <a:extLst>
              <a:ext uri="{FF2B5EF4-FFF2-40B4-BE49-F238E27FC236}">
                <a16:creationId xmlns:a16="http://schemas.microsoft.com/office/drawing/2014/main" id="{760886CF-A708-D8CA-AF13-B40F478EB8B1}"/>
              </a:ext>
            </a:extLst>
          </p:cNvPr>
          <p:cNvSpPr/>
          <p:nvPr/>
        </p:nvSpPr>
        <p:spPr>
          <a:xfrm>
            <a:off x="685800" y="4610545"/>
            <a:ext cx="180261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F952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</a:t>
            </a:r>
            <a:endParaRPr lang="en-US" sz="1050" dirty="0"/>
          </a:p>
        </p:txBody>
      </p:sp>
      <p:sp>
        <p:nvSpPr>
          <p:cNvPr id="25" name="Text 60">
            <a:extLst>
              <a:ext uri="{FF2B5EF4-FFF2-40B4-BE49-F238E27FC236}">
                <a16:creationId xmlns:a16="http://schemas.microsoft.com/office/drawing/2014/main" id="{5CEC6446-F477-04AB-A0AF-A0EFA9B22E6A}"/>
              </a:ext>
            </a:extLst>
          </p:cNvPr>
          <p:cNvSpPr/>
          <p:nvPr/>
        </p:nvSpPr>
        <p:spPr>
          <a:xfrm>
            <a:off x="908235" y="4573397"/>
            <a:ext cx="6152076" cy="501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synth_example.v </a:t>
            </a:r>
            <a:r>
              <a:rPr lang="en-US" sz="1013" dirty="0">
                <a:solidFill>
                  <a:srgbClr val="4444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expresses the design purely in Nangate standard cells — a D flip-flop plus the gates implementing the 2:1 mux — instead of behavioural RTL.</a:t>
            </a:r>
            <a:endParaRPr lang="en-US" sz="1013" dirty="0"/>
          </a:p>
        </p:txBody>
      </p:sp>
      <p:sp>
        <p:nvSpPr>
          <p:cNvPr id="27" name="Shape 61">
            <a:extLst>
              <a:ext uri="{FF2B5EF4-FFF2-40B4-BE49-F238E27FC236}">
                <a16:creationId xmlns:a16="http://schemas.microsoft.com/office/drawing/2014/main" id="{10EC615D-8036-42E1-4606-36964ABBDAF2}"/>
              </a:ext>
            </a:extLst>
          </p:cNvPr>
          <p:cNvSpPr/>
          <p:nvPr/>
        </p:nvSpPr>
        <p:spPr>
          <a:xfrm>
            <a:off x="685800" y="5234113"/>
            <a:ext cx="6191250" cy="678180"/>
          </a:xfrm>
          <a:prstGeom prst="rect">
            <a:avLst/>
          </a:prstGeom>
          <a:solidFill>
            <a:srgbClr val="FAFAFA"/>
          </a:solidFill>
          <a:ln w="762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62">
            <a:extLst>
              <a:ext uri="{FF2B5EF4-FFF2-40B4-BE49-F238E27FC236}">
                <a16:creationId xmlns:a16="http://schemas.microsoft.com/office/drawing/2014/main" id="{048E51C5-C02B-B751-4FD0-A5F98B643676}"/>
              </a:ext>
            </a:extLst>
          </p:cNvPr>
          <p:cNvSpPr/>
          <p:nvPr/>
        </p:nvSpPr>
        <p:spPr>
          <a:xfrm>
            <a:off x="883920" y="5443663"/>
            <a:ext cx="21895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EF952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1500" dirty="0"/>
          </a:p>
        </p:txBody>
      </p:sp>
      <p:sp>
        <p:nvSpPr>
          <p:cNvPr id="31" name="Text 63">
            <a:extLst>
              <a:ext uri="{FF2B5EF4-FFF2-40B4-BE49-F238E27FC236}">
                <a16:creationId xmlns:a16="http://schemas.microsoft.com/office/drawing/2014/main" id="{57140F2F-1D98-CF16-7686-E3983344E58D}"/>
              </a:ext>
            </a:extLst>
          </p:cNvPr>
          <p:cNvSpPr/>
          <p:nvPr/>
        </p:nvSpPr>
        <p:spPr>
          <a:xfrm>
            <a:off x="1179076" y="5394139"/>
            <a:ext cx="3689128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1111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Experiment 2 — PASS</a:t>
            </a:r>
            <a:endParaRPr lang="en-US" sz="1013" dirty="0"/>
          </a:p>
        </p:txBody>
      </p:sp>
      <p:sp>
        <p:nvSpPr>
          <p:cNvPr id="33" name="Text 64">
            <a:extLst>
              <a:ext uri="{FF2B5EF4-FFF2-40B4-BE49-F238E27FC236}">
                <a16:creationId xmlns:a16="http://schemas.microsoft.com/office/drawing/2014/main" id="{6A519698-E540-833C-8CB5-F155D67CCF01}"/>
              </a:ext>
            </a:extLst>
          </p:cNvPr>
          <p:cNvSpPr/>
          <p:nvPr/>
        </p:nvSpPr>
        <p:spPr>
          <a:xfrm>
            <a:off x="1179076" y="5599875"/>
            <a:ext cx="368912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63" dirty="0">
                <a:solidFill>
                  <a:srgbClr val="7777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top.v </a:t>
            </a:r>
            <a:r>
              <a:rPr lang="en-US" sz="938" dirty="0">
                <a:solidFill>
                  <a:srgbClr val="7777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 synthesized into a Nangate-mapped gate-level netlist.</a:t>
            </a:r>
            <a:endParaRPr lang="en-US" sz="938" dirty="0"/>
          </a:p>
        </p:txBody>
      </p:sp>
      <p:pic>
        <p:nvPicPr>
          <p:cNvPr id="35" name="Image 0" descr="preencoded.png">
            <a:extLst>
              <a:ext uri="{FF2B5EF4-FFF2-40B4-BE49-F238E27FC236}">
                <a16:creationId xmlns:a16="http://schemas.microsoft.com/office/drawing/2014/main" id="{9897DAAF-2978-EA13-7FD8-6FF9191B4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2176" y="77470"/>
            <a:ext cx="165625" cy="209551"/>
          </a:xfrm>
          <a:prstGeom prst="rect">
            <a:avLst/>
          </a:prstGeom>
        </p:spPr>
      </p:pic>
      <p:sp>
        <p:nvSpPr>
          <p:cNvPr id="37" name="Text 3">
            <a:extLst>
              <a:ext uri="{FF2B5EF4-FFF2-40B4-BE49-F238E27FC236}">
                <a16:creationId xmlns:a16="http://schemas.microsoft.com/office/drawing/2014/main" id="{2EBFA38C-7970-8A17-AB50-A69FA4FB7662}"/>
              </a:ext>
            </a:extLst>
          </p:cNvPr>
          <p:cNvSpPr/>
          <p:nvPr/>
        </p:nvSpPr>
        <p:spPr>
          <a:xfrm>
            <a:off x="6316980" y="130808"/>
            <a:ext cx="594598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C1A17"/>
                </a:solidFill>
                <a:latin typeface="Aptos Display" panose="020B0004020202020204" pitchFamily="34" charset="0"/>
                <a:ea typeface="IBM Plex Sans" pitchFamily="34" charset="-122"/>
                <a:cs typeface="IBM Plex Sans" pitchFamily="34" charset="-120"/>
              </a:rPr>
              <a:t>Ignytion </a:t>
            </a:r>
            <a:r>
              <a:rPr lang="en-US" sz="825" b="1" dirty="0">
                <a:solidFill>
                  <a:srgbClr val="F7941D"/>
                </a:solidFill>
                <a:latin typeface="Aptos Display" panose="020B0004020202020204" pitchFamily="34" charset="0"/>
                <a:ea typeface="IBM Plex Sans" pitchFamily="34" charset="-122"/>
                <a:cs typeface="IBM Plex Sans" pitchFamily="34" charset="-120"/>
              </a:rPr>
              <a:t>io</a:t>
            </a:r>
            <a:endParaRPr lang="en-US" sz="825" dirty="0">
              <a:latin typeface="Aptos Display" panose="020B0004020202020204" pitchFamily="34" charset="0"/>
            </a:endParaRPr>
          </a:p>
        </p:txBody>
      </p:sp>
      <p:sp>
        <p:nvSpPr>
          <p:cNvPr id="2" name="Text 56">
            <a:extLst>
              <a:ext uri="{FF2B5EF4-FFF2-40B4-BE49-F238E27FC236}">
                <a16:creationId xmlns:a16="http://schemas.microsoft.com/office/drawing/2014/main" id="{B380B44E-0A62-43A1-B369-9BDC7795DF20}"/>
              </a:ext>
            </a:extLst>
          </p:cNvPr>
          <p:cNvSpPr/>
          <p:nvPr/>
        </p:nvSpPr>
        <p:spPr>
          <a:xfrm>
            <a:off x="689312" y="539113"/>
            <a:ext cx="2389168" cy="17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38" kern="0" spc="179" dirty="0">
                <a:solidFill>
                  <a:srgbClr val="6B6B6F"/>
                </a:solidFill>
                <a:latin typeface="IBM Plex Sans" pitchFamily="34" charset="0"/>
              </a:rPr>
              <a:t>CRUCIBLE SYNTHESIS  OUPTUT</a:t>
            </a:r>
            <a:endParaRPr lang="en-US" sz="638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E73846-24D4-08A3-F815-45CA8C464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736600"/>
            <a:ext cx="6197600" cy="1574800"/>
          </a:xfrm>
          <a:prstGeom prst="rect">
            <a:avLst/>
          </a:prstGeom>
          <a:ln>
            <a:solidFill>
              <a:schemeClr val="accent2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5409161-34B4-59CA-CF3D-A886EC1BC7B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" r="12536"/>
          <a:stretch>
            <a:fillRect/>
          </a:stretch>
        </p:blipFill>
        <p:spPr>
          <a:xfrm>
            <a:off x="685800" y="2311400"/>
            <a:ext cx="6197600" cy="1257300"/>
          </a:xfrm>
          <a:prstGeom prst="rect">
            <a:avLst/>
          </a:prstGeom>
          <a:ln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1898240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850" cy="10696575"/>
          </a:xfrm>
          <a:prstGeom prst="rect">
            <a:avLst/>
          </a:prstGeom>
          <a:ln/>
          <a:effectLst>
            <a:outerShdw blurRad="2667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933450"/>
            <a:ext cx="108299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75" kern="0" spc="236" dirty="0">
                <a:solidFill>
                  <a:srgbClr val="EF952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 E C T I O N 6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685800" y="1146804"/>
            <a:ext cx="681037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1111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Conclusion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685800" y="1582099"/>
            <a:ext cx="6376988" cy="989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5000"/>
              </a:lnSpc>
              <a:buNone/>
            </a:pPr>
            <a:r>
              <a:rPr lang="en-US" sz="1013" dirty="0">
                <a:solidFill>
                  <a:srgbClr val="4444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Counter Experiment takes an RTL design through </a:t>
            </a:r>
            <a:r>
              <a:rPr lang="en-US" sz="1013" dirty="0">
                <a:solidFill>
                  <a:srgbClr val="1111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simulation → waveform inspection → logic synthesis </a:t>
            </a:r>
            <a:r>
              <a:rPr lang="en-US" sz="1013" dirty="0">
                <a:solidFill>
                  <a:srgbClr val="4444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the core front-to-mid steps of an ASIC flow — and runs the whole thing through a single Crucible workspace. No tool is installed by hand.</a:t>
            </a:r>
            <a:endParaRPr lang="en-US" sz="1013" dirty="0"/>
          </a:p>
        </p:txBody>
      </p:sp>
      <p:sp>
        <p:nvSpPr>
          <p:cNvPr id="25" name="Text 23"/>
          <p:cNvSpPr/>
          <p:nvPr/>
        </p:nvSpPr>
        <p:spPr>
          <a:xfrm>
            <a:off x="685800" y="2737866"/>
            <a:ext cx="2933700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38" kern="0" spc="179" dirty="0">
                <a:solidFill>
                  <a:srgbClr val="6B6B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 U L </a:t>
            </a:r>
            <a:r>
              <a:rPr lang="en-US" sz="638" kern="0" spc="179" dirty="0" err="1">
                <a:solidFill>
                  <a:srgbClr val="6B6B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</a:t>
            </a:r>
            <a:r>
              <a:rPr lang="en-US" sz="638" kern="0" spc="179" dirty="0">
                <a:solidFill>
                  <a:srgbClr val="6B6B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- C O M M A N D   S E Q U E N C E</a:t>
            </a:r>
            <a:endParaRPr lang="en-US" sz="638" dirty="0"/>
          </a:p>
        </p:txBody>
      </p:sp>
      <p:sp>
        <p:nvSpPr>
          <p:cNvPr id="26" name="Shape 24"/>
          <p:cNvSpPr/>
          <p:nvPr/>
        </p:nvSpPr>
        <p:spPr>
          <a:xfrm>
            <a:off x="685800" y="2987798"/>
            <a:ext cx="6191250" cy="3661410"/>
          </a:xfrm>
          <a:prstGeom prst="roundRect">
            <a:avLst>
              <a:gd name="adj" fmla="val 780"/>
            </a:avLst>
          </a:prstGeom>
          <a:solidFill>
            <a:srgbClr val="0B0B0C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3197348"/>
            <a:ext cx="5906072" cy="3280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85000"/>
              </a:lnSpc>
              <a:buNone/>
            </a:pPr>
            <a:r>
              <a:rPr lang="en-US" sz="863" dirty="0">
                <a:solidFill>
                  <a:srgbClr val="6B6B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workspace setup </a:t>
            </a:r>
            <a:r>
              <a:rPr lang="en-US" sz="863" dirty="0">
                <a:solidFill>
                  <a:srgbClr val="EDED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igny init</a:t>
            </a:r>
            <a:endParaRPr lang="en-US" sz="863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863" dirty="0">
                <a:solidFill>
                  <a:srgbClr val="EDED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igny env create demos</a:t>
            </a:r>
            <a:endParaRPr lang="en-US" sz="863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863" dirty="0">
                <a:solidFill>
                  <a:srgbClr val="EDED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igny workspace create --path ./counter --env demos</a:t>
            </a:r>
            <a:endParaRPr lang="en-US" sz="863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863" dirty="0">
                <a:solidFill>
                  <a:srgbClr val="EDED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cd counter</a:t>
            </a:r>
            <a:endParaRPr lang="en-US" sz="863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863" dirty="0">
                <a:solidFill>
                  <a:srgbClr val="EDED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igny tool install iverilog</a:t>
            </a:r>
            <a:endParaRPr lang="en-US" sz="863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863" dirty="0">
                <a:solidFill>
                  <a:srgbClr val="EDED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igny tool install gtkwave</a:t>
            </a:r>
            <a:endParaRPr lang="en-US" sz="863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863" dirty="0">
                <a:solidFill>
                  <a:srgbClr val="EDED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igny tool install yosys </a:t>
            </a:r>
            <a:endParaRPr lang="en-US" sz="863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863" dirty="0">
                <a:solidFill>
                  <a:srgbClr val="6B6B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experiment 1 — rtl simulation </a:t>
            </a:r>
            <a:r>
              <a:rPr lang="en-US" sz="863" dirty="0">
                <a:solidFill>
                  <a:srgbClr val="EDED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igny run iverilog -o Mycounter Mycounter.v Testbench.v</a:t>
            </a:r>
            <a:endParaRPr lang="en-US" sz="863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863" dirty="0">
                <a:solidFill>
                  <a:srgbClr val="EDED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igny run vvp Mycounter</a:t>
            </a:r>
            <a:endParaRPr lang="en-US" sz="863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863" dirty="0">
                <a:solidFill>
                  <a:srgbClr val="EDED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igny run gtkwave count.vcd </a:t>
            </a:r>
            <a:endParaRPr lang="en-US" sz="863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863" dirty="0">
                <a:solidFill>
                  <a:srgbClr val="6B6B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experiment 2 — logic synthesis </a:t>
            </a:r>
            <a:r>
              <a:rPr lang="en-US" sz="863" dirty="0">
                <a:solidFill>
                  <a:srgbClr val="EDED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igny run yosys -s yosys_commands.tcl</a:t>
            </a:r>
            <a:endParaRPr lang="en-US" sz="863" dirty="0"/>
          </a:p>
        </p:txBody>
      </p:sp>
      <p:sp>
        <p:nvSpPr>
          <p:cNvPr id="30" name="Text 28"/>
          <p:cNvSpPr/>
          <p:nvPr/>
        </p:nvSpPr>
        <p:spPr>
          <a:xfrm>
            <a:off x="685800" y="9690729"/>
            <a:ext cx="6810375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endParaRPr lang="en-US" sz="863" dirty="0"/>
          </a:p>
        </p:txBody>
      </p:sp>
      <p:sp>
        <p:nvSpPr>
          <p:cNvPr id="46" name="Shape 1">
            <a:extLst>
              <a:ext uri="{FF2B5EF4-FFF2-40B4-BE49-F238E27FC236}">
                <a16:creationId xmlns:a16="http://schemas.microsoft.com/office/drawing/2014/main" id="{97BC5EA0-104C-20DE-71AC-2EA3B85089DD}"/>
              </a:ext>
            </a:extLst>
          </p:cNvPr>
          <p:cNvSpPr/>
          <p:nvPr/>
        </p:nvSpPr>
        <p:spPr>
          <a:xfrm>
            <a:off x="0" y="392430"/>
            <a:ext cx="7562850" cy="15240"/>
          </a:xfrm>
          <a:prstGeom prst="rect">
            <a:avLst/>
          </a:prstGeom>
          <a:solidFill>
            <a:srgbClr val="EF9529"/>
          </a:solidFill>
          <a:ln/>
        </p:spPr>
      </p:sp>
      <p:sp>
        <p:nvSpPr>
          <p:cNvPr id="48" name="Text 2">
            <a:extLst>
              <a:ext uri="{FF2B5EF4-FFF2-40B4-BE49-F238E27FC236}">
                <a16:creationId xmlns:a16="http://schemas.microsoft.com/office/drawing/2014/main" id="{277A0278-FEF1-681D-6AEF-DED57E974E0D}"/>
              </a:ext>
            </a:extLst>
          </p:cNvPr>
          <p:cNvSpPr/>
          <p:nvPr/>
        </p:nvSpPr>
        <p:spPr>
          <a:xfrm>
            <a:off x="685800" y="142875"/>
            <a:ext cx="3275267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38" kern="0" spc="159" dirty="0">
                <a:solidFill>
                  <a:srgbClr val="A1A1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ASIC DESIGN &amp; VERIFICATION · TECHNICAL LAB NOTE</a:t>
            </a:r>
            <a:endParaRPr lang="en-US" sz="638" dirty="0"/>
          </a:p>
        </p:txBody>
      </p:sp>
      <p:sp>
        <p:nvSpPr>
          <p:cNvPr id="50" name="Text 3">
            <a:extLst>
              <a:ext uri="{FF2B5EF4-FFF2-40B4-BE49-F238E27FC236}">
                <a16:creationId xmlns:a16="http://schemas.microsoft.com/office/drawing/2014/main" id="{8B51B9F8-6EAA-0CAE-4AEE-FC8A13597870}"/>
              </a:ext>
            </a:extLst>
          </p:cNvPr>
          <p:cNvSpPr/>
          <p:nvPr/>
        </p:nvSpPr>
        <p:spPr>
          <a:xfrm>
            <a:off x="6343412" y="123825"/>
            <a:ext cx="609838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63" dirty="0">
                <a:solidFill>
                  <a:srgbClr val="4444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Ignytion io</a:t>
            </a:r>
            <a:endParaRPr lang="en-US" sz="863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CCE2768B-B0C1-6B35-F627-F8466AB69546}"/>
              </a:ext>
            </a:extLst>
          </p:cNvPr>
          <p:cNvSpPr/>
          <p:nvPr/>
        </p:nvSpPr>
        <p:spPr>
          <a:xfrm>
            <a:off x="0" y="10292711"/>
            <a:ext cx="7562850" cy="9525"/>
          </a:xfrm>
          <a:prstGeom prst="rect">
            <a:avLst/>
          </a:prstGeom>
          <a:solidFill>
            <a:srgbClr val="EA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029424A1-AA50-DDFA-B5A7-7C656A3F0C36}"/>
              </a:ext>
            </a:extLst>
          </p:cNvPr>
          <p:cNvSpPr/>
          <p:nvPr/>
        </p:nvSpPr>
        <p:spPr>
          <a:xfrm>
            <a:off x="685800" y="10433679"/>
            <a:ext cx="1556564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A1A1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© 2026 Ignytion IO · ignytion.io</a:t>
            </a:r>
            <a:endParaRPr lang="en-US" sz="788" dirty="0"/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24DD6226-E08B-BBA7-37F8-2F715B4B9493}"/>
              </a:ext>
            </a:extLst>
          </p:cNvPr>
          <p:cNvSpPr/>
          <p:nvPr/>
        </p:nvSpPr>
        <p:spPr>
          <a:xfrm>
            <a:off x="3791426" y="10433679"/>
            <a:ext cx="114573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A1A1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June 2026 · Version 1.0</a:t>
            </a:r>
            <a:endParaRPr lang="en-US" sz="788" dirty="0"/>
          </a:p>
        </p:txBody>
      </p:sp>
      <p:sp>
        <p:nvSpPr>
          <p:cNvPr id="37" name="Text 32">
            <a:extLst>
              <a:ext uri="{FF2B5EF4-FFF2-40B4-BE49-F238E27FC236}">
                <a16:creationId xmlns:a16="http://schemas.microsoft.com/office/drawing/2014/main" id="{43CC9429-6CB7-D05C-81D2-93353B830E27}"/>
              </a:ext>
            </a:extLst>
          </p:cNvPr>
          <p:cNvSpPr/>
          <p:nvPr/>
        </p:nvSpPr>
        <p:spPr>
          <a:xfrm>
            <a:off x="6551533" y="10433679"/>
            <a:ext cx="40171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A1A1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09/ 09</a:t>
            </a:r>
            <a:endParaRPr lang="en-US" sz="78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CEDB34C-180B-4387-8B79-5E9BE830EBE7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f00a71b7-b38d-4a62-a6e6-92fff411f11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1755</Words>
  <Application>Microsoft Office PowerPoint</Application>
  <PresentationFormat>Custom</PresentationFormat>
  <Paragraphs>242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 Display</vt:lpstr>
      <vt:lpstr>Arial</vt:lpstr>
      <vt:lpstr>IBM Plex Mono</vt:lpstr>
      <vt:lpstr>IBM Plex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Ignytion-io Ae</cp:lastModifiedBy>
  <cp:revision>16</cp:revision>
  <dcterms:created xsi:type="dcterms:W3CDTF">2026-06-29T12:41:07Z</dcterms:created>
  <dcterms:modified xsi:type="dcterms:W3CDTF">2026-07-02T09:45:26Z</dcterms:modified>
</cp:coreProperties>
</file>